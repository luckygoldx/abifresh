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914400"/>
            <a:ext cx="2103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0"/>
            </a:pPr>
            <a:r>
              <a:t>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HOSPITAL EMR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D2F0"/>
                </a:solidFill>
                <a:latin typeface="Calibri"/>
              </a:defRPr>
            </a:pPr>
            <a:r>
              <a:t>Electronic Medical Records &amp; Hospital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6B4D2"/>
                </a:solidFill>
                <a:latin typeface="Calibri"/>
              </a:defRPr>
            </a:pPr>
            <a:r>
              <a:t>Comprehensive Solution for Private Hospital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  <a:latin typeface="Calibri"/>
              </a:defRPr>
            </a:pPr>
            <a:r>
              <a:t>CONFIDENTIAL PITCH DOCUMENT   |   February 2026   |   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1.  Executive Summary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2.  System Overview &amp; Architecture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3.  Core Modules (15+ Modules)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4.  Administrative Modules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5.  Workflow Diagrams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6.  Integration &amp; Interoperability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7.   Security &amp; Compliance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8.   Technology Stack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9.   Implementation Plan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10.  Pricing &amp; Licensing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11.  Support &amp; Maintenance</a:t>
            </a:r>
          </a:p>
          <a:p>
            <a:pPr>
              <a:spcAft>
                <a:spcPts val="1440"/>
              </a:spcAft>
              <a:defRPr sz="1800" b="0">
                <a:solidFill>
                  <a:srgbClr val="003366"/>
                </a:solidFill>
                <a:latin typeface="Calibri"/>
              </a:defRPr>
            </a:pPr>
            <a:r>
              <a:t>12.  Why Choose Our EMR?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Calibri"/>
              </a:defRPr>
            </a:pPr>
            <a:r>
              <a:t>Patient Mgmt • EMR/EHR • Appointments • OPD • IPD/Wards • Emergency • Operating Theatre • Nursing • Laboratory • Pharmacy • Radiology • Blood Bank • Inventory • Billing • HR/Staff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The Big Picture — Why This EMR System?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Our Hospital EMR system is a comprehensive, integrated healthcare management platform designed specifically for private hospitals. It digitizes every aspect of hospital operations — from patient registration to discharge, from pharmacy dispensing to laboratory results, from staff scheduling to financial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651760" cy="14630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📄 Paperless Operations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Eliminate paper records entirely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468880"/>
            <a:ext cx="2651760" cy="14630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🛡️ Patient Safety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Drug interaction &amp; allergy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468880"/>
            <a:ext cx="2651760" cy="14630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💰 Revenue Optimization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Automated billing &amp; claims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468880"/>
            <a:ext cx="2651760" cy="14630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⚡ Operational Efficiency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60% wait time 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2651760" cy="14630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✅ Regulatory Compliance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Full audit trail &amp; encryption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206240"/>
            <a:ext cx="2651760" cy="14630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📊 Data-Driven Decisions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Real-time dashboards &amp;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06240"/>
            <a:ext cx="2651760" cy="14630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👥 Staff Productivity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Automated scheduling &amp;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206240"/>
            <a:ext cx="2651760" cy="14630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😊 Patient Satisfaction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Portal, booking,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RETURN ON INVESTMENT (ROI)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371600"/>
            <a:ext cx="1371600" cy="13716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4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Wait Time</a:t>
            </a:r>
            <a:br/>
            <a:r>
              <a:t>Reduction</a:t>
            </a:r>
          </a:p>
        </p:txBody>
      </p:sp>
      <p:sp>
        <p:nvSpPr>
          <p:cNvPr id="6" name="Oval 5"/>
          <p:cNvSpPr/>
          <p:nvPr/>
        </p:nvSpPr>
        <p:spPr>
          <a:xfrm>
            <a:off x="2514600" y="1371600"/>
            <a:ext cx="1371600" cy="137160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4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Fewer Medical</a:t>
            </a:r>
            <a:br/>
            <a:r>
              <a:t>Errors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1371600"/>
            <a:ext cx="1371600" cy="1371600"/>
          </a:xfrm>
          <a:prstGeom prst="ellipse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4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Revenue</a:t>
            </a:r>
            <a:br/>
            <a:r>
              <a:t>Increase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1371600"/>
            <a:ext cx="1371600" cy="13716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4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Staff Efficiency</a:t>
            </a:r>
            <a:br/>
            <a:r>
              <a:t>Improvement</a:t>
            </a:r>
          </a:p>
        </p:txBody>
      </p:sp>
      <p:sp>
        <p:nvSpPr>
          <p:cNvPr id="12" name="Oval 11"/>
          <p:cNvSpPr/>
          <p:nvPr/>
        </p:nvSpPr>
        <p:spPr>
          <a:xfrm>
            <a:off x="8275320" y="1371600"/>
            <a:ext cx="1371600" cy="1371600"/>
          </a:xfrm>
          <a:prstGeom prst="ellipse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4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Faster Insurance</a:t>
            </a:r>
            <a:br/>
            <a:r>
              <a:t>Claims</a:t>
            </a:r>
          </a:p>
        </p:txBody>
      </p:sp>
      <p:sp>
        <p:nvSpPr>
          <p:cNvPr id="14" name="Oval 13"/>
          <p:cNvSpPr/>
          <p:nvPr/>
        </p:nvSpPr>
        <p:spPr>
          <a:xfrm>
            <a:off x="10195560" y="1371600"/>
            <a:ext cx="1371600" cy="1371600"/>
          </a:xfrm>
          <a:prstGeom prst="ellipse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400" b="1">
                <a:solidFill>
                  <a:srgbClr val="FFFFFF"/>
                </a:solidFill>
              </a:defRPr>
            </a:pPr>
            <a:r>
              <a:t>$200K+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Annual Paper</a:t>
            </a:r>
            <a:br/>
            <a:r>
              <a:t>Cost Savings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11247120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Before vs After EMR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❌ Paper-based records — lost, damaged, misfiled</a:t>
            </a:r>
          </a:p>
          <a:p>
            <a:pPr>
              <a:spcAft>
                <a:spcPts val="66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❌ Manual billing — errors, delays, revenue leakage</a:t>
            </a:r>
          </a:p>
          <a:p>
            <a:pPr>
              <a:spcAft>
                <a:spcPts val="66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❌ No real-time data — decisions based on guesswork</a:t>
            </a:r>
          </a:p>
          <a:p>
            <a:pPr>
              <a:spcAft>
                <a:spcPts val="66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❌ Long patient wait times — poor satisfaction</a:t>
            </a:r>
          </a:p>
          <a:p>
            <a:pPr>
              <a:spcAft>
                <a:spcPts val="66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❌ Siloed departments — no information sharing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006633"/>
                </a:solidFill>
                <a:latin typeface="Calibri"/>
              </a:defRPr>
            </a:pPr>
            <a:r>
              <a:t>✅ Digital records — instant access, never lost</a:t>
            </a:r>
          </a:p>
          <a:p>
            <a:pPr>
              <a:spcAft>
                <a:spcPts val="660"/>
              </a:spcAft>
              <a:defRPr sz="1100" b="0">
                <a:solidFill>
                  <a:srgbClr val="006633"/>
                </a:solidFill>
                <a:latin typeface="Calibri"/>
              </a:defRPr>
            </a:pPr>
            <a:r>
              <a:t>✅ Automated billing — accurate, fast, complete capture</a:t>
            </a:r>
          </a:p>
          <a:p>
            <a:pPr>
              <a:spcAft>
                <a:spcPts val="660"/>
              </a:spcAft>
              <a:defRPr sz="1100" b="0">
                <a:solidFill>
                  <a:srgbClr val="006633"/>
                </a:solidFill>
                <a:latin typeface="Calibri"/>
              </a:defRPr>
            </a:pPr>
            <a:r>
              <a:t>✅ Real-time dashboards — data-driven decisions</a:t>
            </a:r>
          </a:p>
          <a:p>
            <a:pPr>
              <a:spcAft>
                <a:spcPts val="660"/>
              </a:spcAft>
              <a:defRPr sz="1100" b="0">
                <a:solidFill>
                  <a:srgbClr val="006633"/>
                </a:solidFill>
                <a:latin typeface="Calibri"/>
              </a:defRPr>
            </a:pPr>
            <a:r>
              <a:t>✅ Streamlined workflows — 60% shorter wait times</a:t>
            </a:r>
          </a:p>
          <a:p>
            <a:pPr>
              <a:spcAft>
                <a:spcPts val="660"/>
              </a:spcAft>
              <a:defRPr sz="1100" b="0">
                <a:solidFill>
                  <a:srgbClr val="006633"/>
                </a:solidFill>
                <a:latin typeface="Calibri"/>
              </a:defRPr>
            </a:pPr>
            <a:r>
              <a:t>✅ Integrated system — all departments connected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OVERVIEW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Modern Three-Tier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HIGH-LEVEL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280160"/>
            <a:ext cx="2011680" cy="822960"/>
          </a:xfrm>
          <a:prstGeom prst="roundRect">
            <a:avLst/>
          </a:prstGeom>
          <a:solidFill>
            <a:srgbClr val="006699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🖥️ Web Browser</a:t>
            </a:r>
            <a:br/>
            <a:r>
              <a:t>(Desktop)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280160"/>
            <a:ext cx="2011680" cy="822960"/>
          </a:xfrm>
          <a:prstGeom prst="roundRect">
            <a:avLst/>
          </a:prstGeom>
          <a:solidFill>
            <a:srgbClr val="006699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Mobile App</a:t>
            </a:r>
            <a:br/>
            <a:r>
              <a:t>(iOS/Android)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59" y="1280160"/>
            <a:ext cx="2011680" cy="822960"/>
          </a:xfrm>
          <a:prstGeom prst="roundRect">
            <a:avLst/>
          </a:prstGeom>
          <a:solidFill>
            <a:srgbClr val="006699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📟 Tablet/Kiosk</a:t>
            </a:r>
            <a:br/>
            <a:r>
              <a:t>(Check-in)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468880"/>
            <a:ext cx="5212080" cy="64008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API GATEWAY / LOAD BALANCER  (NGINX + SSL + Rate Limiting)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2377440" cy="82296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🔐 Auth Service</a:t>
            </a:r>
            <a:br/>
            <a:r>
              <a:t>JWT / RBAC / MFA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474720"/>
            <a:ext cx="237744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⚕️ Core EMR API</a:t>
            </a:r>
            <a:br/>
            <a:r>
              <a:t>REST + GraphQL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474720"/>
            <a:ext cx="2377440" cy="82296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📊 Analytics Service</a:t>
            </a:r>
            <a:br/>
            <a:r>
              <a:t>Reports +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192024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🗄️ PostgreSQL</a:t>
            </a:r>
            <a:br/>
            <a:r>
              <a:t>Primary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754880"/>
            <a:ext cx="1920240" cy="822960"/>
          </a:xfrm>
          <a:prstGeom prst="round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⚡ Redis</a:t>
            </a:r>
            <a:br/>
            <a:r>
              <a:t>Cache +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754880"/>
            <a:ext cx="192024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🔍 Elasticsearch</a:t>
            </a:r>
            <a:br/>
            <a:r>
              <a:t>Full-Text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754880"/>
            <a:ext cx="1920240" cy="82296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📁 MinIO / S3</a:t>
            </a:r>
            <a:br/>
            <a:r>
              <a:t>File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4754880"/>
            <a:ext cx="1920240" cy="82296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🏥 Orthanc</a:t>
            </a:r>
            <a:br/>
            <a:r>
              <a:t>DICOM/PACS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99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300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566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33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43600" y="2148840"/>
            <a:ext cx="27432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943600" y="3154680"/>
            <a:ext cx="27432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943600" y="4343400"/>
            <a:ext cx="27432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COMPONENTS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686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Frontend (Web)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React.js / Next.js 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SSR, responsive, PWA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Mobile App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React Native / Flutter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Cross-platform iOS &amp; Android, offline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Backend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Node.js (NestJS) / Python (FastAPI)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REST + GraphQL + WebSocket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PostgreSQL 16+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ACID, JSON support, full-text search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Caching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Redis 7+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Sessions, real-time data, pub/sub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Search Engine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Elasticsearch 8+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&amp; clinical term search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File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MinIO / AWS S3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Medical images, documents, DICOM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Message Queue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RabbitMQ / Redis Streams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Async processing, notifications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PACS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Orthanc / dcm4chee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DICOM medical imaging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CI/CD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GitHub Actions / GitLab CI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Automated testing &amp; deployment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Prometheus + Grafana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System health, performance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Logging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ELK Stack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Centralized log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CORE MODULES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15+ Integrated Modules Covering Every Department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OVERVIEW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CLINICAL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3366"/>
                </a:solidFill>
              </a:defRPr>
            </a:pPr>
            <a:r>
              <a:t>Patient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73736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3366"/>
                </a:solidFill>
              </a:defRPr>
            </a:pPr>
            <a:r>
              <a:t>EMR / EHR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73736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3366"/>
                </a:solidFill>
              </a:defRPr>
            </a:pPr>
            <a:r>
              <a:t>OPD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3366"/>
                </a:solidFill>
              </a:defRPr>
            </a:pPr>
            <a:r>
              <a:t>IPD / Wards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33172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3366"/>
                </a:solidFill>
              </a:defRPr>
            </a:pPr>
            <a:r>
              <a:t>Emergency Dept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33172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3366"/>
                </a:solidFill>
              </a:defRPr>
            </a:pPr>
            <a:r>
              <a:t>Operating Theatre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3366"/>
                </a:solidFill>
              </a:defRPr>
            </a:pPr>
            <a:r>
              <a:t>Nursing Station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486400" cy="45720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SUPPORT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33"/>
                </a:solidFill>
              </a:defRPr>
            </a:pPr>
            <a:r>
              <a:t>Laboratory (LIS)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33"/>
                </a:solidFill>
              </a:defRPr>
            </a:pPr>
            <a:r>
              <a:t>Pharmacy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173736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33"/>
                </a:solidFill>
              </a:defRPr>
            </a:pPr>
            <a:r>
              <a:t>Radiology (RIS/PACS)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33"/>
                </a:solidFill>
              </a:defRPr>
            </a:pPr>
            <a:r>
              <a:t>Blood Bank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33172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33"/>
                </a:solidFill>
              </a:defRPr>
            </a:pPr>
            <a:r>
              <a:t>Inventory &amp; Supply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331720"/>
            <a:ext cx="1737360" cy="45720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33"/>
                </a:solidFill>
              </a:defRPr>
            </a:pPr>
            <a:r>
              <a:t>Diet / Kitchen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5486400" cy="45720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FINANCIAL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67300"/>
                </a:solidFill>
              </a:defRPr>
            </a:pPr>
            <a:r>
              <a:t>Billing &amp; Invoicing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48056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67300"/>
                </a:solidFill>
              </a:defRPr>
            </a:pPr>
            <a:r>
              <a:t>Insurance Claims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48056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67300"/>
                </a:solidFill>
              </a:defRPr>
            </a:pPr>
            <a:r>
              <a:t>Revenue Cycle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67300"/>
                </a:solidFill>
              </a:defRPr>
            </a:pPr>
            <a:r>
              <a:t>Accounting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31920"/>
            <a:ext cx="5486400" cy="45720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ADMIN &amp; HR MODULES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48056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660066"/>
                </a:solidFill>
              </a:defRPr>
            </a:pPr>
            <a:r>
              <a:t>Admin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48056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660066"/>
                </a:solidFill>
              </a:defRPr>
            </a:pPr>
            <a:r>
              <a:t>Reports &amp; BI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448056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660066"/>
                </a:solidFill>
              </a:defRPr>
            </a:pPr>
            <a:r>
              <a:t>User 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07492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660066"/>
                </a:solidFill>
              </a:defRPr>
            </a:pPr>
            <a:r>
              <a:t>Staff / HR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507492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660066"/>
                </a:solidFill>
              </a:defRPr>
            </a:pPr>
            <a:r>
              <a:t>Audit Trail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5074920"/>
            <a:ext cx="1737360" cy="4572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660066"/>
                </a:solidFill>
              </a:defRPr>
            </a:pPr>
            <a:r>
              <a:t>Settings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3.1 PATIENT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Registration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Demographics, contacts, emergency contacts, photo, biometric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Unique Patient ID (UHID)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Auto-generated with barcode/QR code for all encounters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Instant search by name, ID, phone, national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Categories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VIP, regular, insurance, corporate, pediatric, geriatric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Medical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Past illnesses, surgeries, family history, allergies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Insurance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Multiple policies, pre-authorization, coverage limits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Document 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ID cards, insurance, referral letters, consent forms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Portal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Self-service: view records, book appointments, download reports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SMS, email, WhatsApp for appointments &amp;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3.2 ELECTRONIC MEDICAL RECORDS (EMR)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Clinical Notes (SOAP)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Subjective, Objective, Assessment, Plan — with templates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Diagnosis (ICD-10/11)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Searchable ICD coding, multiple diagnoses per encounter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E-Prescribing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Drug interaction checks, dosage calculators, generic substitution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Vitals Recording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BP, temperature, pulse, SpO2, weight, height, BMI auto-calc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Order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Lab orders, radiology orders, procedure orders — all digital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Clinical Templates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Specialty-specific: cardiology, orthopedics, OB/GYN, peds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Allergy &amp; Alert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Drug allergies, food allergies, condition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Medical Timeline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Chronological view of all encounters, results, procedures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Clinical Decision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Evidence-based alerts, risk scores, guidelines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Voice-to-Text / E-Signatures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AI dictation + digital signatures on documents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3.3 APPOINTMENT &amp; SCHEDULING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Online Booking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Patients book via web portal or mobile app — 24/7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Walk-in Queue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Real-time queue management with estimated wait times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Doctor Schedule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Define availability, breaks, leave, on-call schedules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Multi-Resource Booking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Simultaneously book doctor + room + equipment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Recurring Appointments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Auto-schedule for dialysis, physiotherapy, etc.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Reminders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SMS/email/WhatsApp reminders 24h and 1h before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Telemedicine Slots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Video consultation with integrated calling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Capacity Dashboard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Real-time clinic capacity and utilization view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3.4 STAFF &amp; HR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Employee Profiles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Credentials, certifications, specializations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Attendance &amp; Time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Clock-in/out, biometric, overtime tracking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Shift Scheduling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Auto-rosters, swap requests, on-call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Leave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Apply, approve, track — annual, sick, maternity, emergency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Payroll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Salary calculation, deductions, bonuses, pay slips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Performance Reviews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360° evaluations, KPIs, competency assessments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Training &amp; CME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Continuing education, certifications, expiry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Credentialing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Medical licenses, board certifications, verification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3.5 BILLING &amp; FINANCIAL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Billing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Auto-generate from orders, procedures, bed charges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Insurance Claims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Electronic submission, pre-auth, adjudication tracking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Multiple 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Cash, card, mobile money, bank transfer, installments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Package Billing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Health check, surgery, maternity packages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Revenue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Daily/weekly/monthly revenue, department collections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Tax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VAT/GST, tax invoices, exemptions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Financial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P&amp;L, balance sheet, aging, revenue forecasts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Accounting Integration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QuickBooks, Xero, Tally, SAP export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3.6 PHARMACY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E-Prescription Receipt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Receive prescriptions electronically from EMR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Drug Dispensing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Barcode-based, patient verification, label printing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Drug Interaction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Real-time drug-drug &amp; drug-allergy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Inventory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Stock levels, reorder points, expiry, batch tracking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Controlled Substances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Special tracking for narcotics and controlled meds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Formulary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Drug formulary with generic substitution suggestions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Purchase Orders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Auto-PO generation when stock hits reorder 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Point of Sale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Walk-in sales, OTC medications, billing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3.7 LABORATORY MANAGEMENT (LIS)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Order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Receive digital lab orders, priority flagging (STAT)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Sample Collection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Barcode labels, phlebotomy scheduling, tracking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Sample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chain: collection → processing →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Result Entry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Manual or instrument-interfaced with normal ranges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Auto-Validation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Rules-based validation for normal range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Critical Alerts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Immediate notification for critical/panic values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Quality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QC tracking, Levey-Jennings, Westgard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Instrument Interface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Bi-directional connection with analyzers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TAT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Turnaround time tracking, bottleneck identification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3.8 RADIOLOGY &amp; IMAGING (RIS/PACS)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Order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Digital radiology orders with clinical indication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DICOM Integration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Modality Worklist, image storage, PACS server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Web-Based Viewer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DICOM viewer with measurement &amp; comparison 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Structured Reports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Templates, voice dictation, automated distribution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Equipment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Maintenance schedules, utilization, downtime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3.9 INVENTORY &amp; SUPPLY CHAIN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Multi-Store Mgmt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Central store, department sub-stores, pharmacy, kitchen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Purchase Workflow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Requisition → PO → GRN → Issue with approvals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Expiry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FEFO/FIFO tracking, alerts at 30/60/90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ABC/VED Analysis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Classify items by value and criticality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Barcode/RFID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Item identification and tracking throughout hospital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Vendor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Evaluation, price comparison, contract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3.10 NURSING STATION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Worklist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Assigned patients with alerts and pending tasks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Vital Signs Charting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Record/chart vitals with auto-alerts for abnormals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Barcode scan patient + med for safe medication administration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Care Plans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Create/manage individualized nursing care plans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Intake/Output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Track fluid intake, urine output, drain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Shift Handover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Structured handover notes with critical information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3.11 IN-PATIENT (WARD)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Direct, emergency, or transfer admission with bed assignment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Bed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Visual bed map, occupancy dashboard, ICU/general/private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Ward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Real-time ward status, patient list,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Transfer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Ward-to-ward, bed-to-bed with charge adjustments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Discharge 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Summary, follow-up, take-home meds, clearance checklist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Census Reports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Daily census, ADT reports, length of stay tracking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3.12 OPD &amp; 3.13 EMERGENCY DEPT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OPD: Check-in/Queue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Self-service kiosk or receptionist, token display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OPD: Consultation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EMR — notes, orders, prescriptions in real-time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OPD: Referrals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Internal specialist referrals, external referral letters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OPD: Telemedicine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Video OPD consultations via integrated platform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ER: Rapid Registration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Minimal info required — full details captured later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ER: Triage (ESI/MTS)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Emergency Severity Index 1-5, Manchester Triage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ER: Real-time Bed 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Visual display of all ER bays/beds with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ER: STAT Orders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Priority lab and imaging with STAT flags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ER: Mass Casualty Mode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Simplified documentation for disaster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3.14 OPERATING THEATRE &amp; 3.15 BLOOD BANK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OT: Surgery Scheduling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Book OT slots, manage conflicts, priority scheduling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OT: WHO Safety Checklist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Digital Sign-In, Time-Out, Sign-Out workflow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OT: 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Surgical notes, anesthesia record, implant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OT: Resource Management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Equipment, staff, consumable allocation per surgery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OT: Surgeon Pref Cards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Pre-configured instrument and supply lists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Blood Bank: Donors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Registration, screening, donation history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Blood Bank: Cross-Match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Compatibility testing, results, issue units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Blood Bank: Transfusion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Track transfusions, reaction monitoring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Blood Bank: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Mandatory screening (HIV, HBV, HCV, etc.)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ADMINISTRATIVE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Dashboard, Reports, Users, Audit Trail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4.1 ADMIN DASHBOARD &amp;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103120" cy="11887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👥 1,250</a:t>
            </a:r>
          </a:p>
          <a:p>
            <a:pPr algn="ctr">
              <a:defRPr sz="1000">
                <a:solidFill>
                  <a:srgbClr val="DCDCFF"/>
                </a:solidFill>
              </a:defRPr>
            </a:pPr>
            <a:r>
              <a:t>Active Patients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79" y="1280160"/>
            <a:ext cx="2103120" cy="118872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🛏️ 78%</a:t>
            </a:r>
          </a:p>
          <a:p>
            <a:pPr algn="ctr">
              <a:defRPr sz="1000">
                <a:solidFill>
                  <a:srgbClr val="DCDCFF"/>
                </a:solidFill>
              </a:defRPr>
            </a:pPr>
            <a:r>
              <a:t>Bed Occupancy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80160"/>
            <a:ext cx="2103120" cy="118872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💰 $355K</a:t>
            </a:r>
          </a:p>
          <a:p>
            <a:pPr algn="ctr">
              <a:defRPr sz="1000">
                <a:solidFill>
                  <a:srgbClr val="DCDCFF"/>
                </a:solidFill>
              </a:defRPr>
            </a:pPr>
            <a:r>
              <a:t>Monthly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19" y="1280160"/>
            <a:ext cx="2103120" cy="11887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⏱️ 18 min</a:t>
            </a:r>
          </a:p>
          <a:p>
            <a:pPr algn="ctr">
              <a:defRPr sz="1000">
                <a:solidFill>
                  <a:srgbClr val="DCDCFF"/>
                </a:solidFill>
              </a:defRPr>
            </a:pPr>
            <a:r>
              <a:t>Avg Wait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280160"/>
            <a:ext cx="2103120" cy="118872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📊 4.2/5</a:t>
            </a:r>
          </a:p>
          <a:p>
            <a:pPr algn="ctr">
              <a:defRPr sz="1000">
                <a:solidFill>
                  <a:srgbClr val="DCDCFF"/>
                </a:solidFill>
              </a:defRPr>
            </a:pPr>
            <a:r>
              <a:t>Patient Satisfaction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7432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Executive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Hospital-wide KPIs, revenue, patient count, bed occupancy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Department Dashboards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Department-specific metrics and performance indicators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Financial Overview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Revenue, expenses, outstanding, cash flow trends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Quality Indicators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Infection rates, readmission rates, mortality rates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Widgets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Drag-and-drop dashboard customization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Alert Center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Stock-outs, equipment downtime, pending approvals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4.2 REPORTS, USER ROLES &amp;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📊 Report Categories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Clinical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Census, diagnosis distribution, outcomes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Financial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Revenue, billing, department P&amp;L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OT utilization, bed occupancy, ER TAT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Builder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Drag-and-drop with filters &amp; charts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Scheduled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 email daily/weekly/monthly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👤 System Roles (RBAC)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Access Scope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Administrator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system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Doctor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Records, prescriptions, orders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Nurse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Vitals, eMAR, care plans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Receptionist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Registration, appointments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Pharmacist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Dispensing,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Lab Technician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Samples, results, QC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Accountant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Billing, claims,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Roles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Granular permissions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🔒 Complete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Every action logged: who, what, when, where, before/after values. Data access logging for patient records. Full version history of all clinical documents. HIPAA &amp; GDPR compliant with consent management and data portability.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WORKFLOW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How Information Flows Through the System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COMPLETE PATIENT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91440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Patient</a:t>
            </a:r>
            <a:br/>
            <a:r>
              <a:t>Arrives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80" y="1719072"/>
            <a:ext cx="640080" cy="219456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2011680" cy="91440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Registration</a:t>
            </a:r>
            <a:br/>
            <a:r>
              <a:t>(New/Existing)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20640" y="1719072"/>
            <a:ext cx="640080" cy="219456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371600"/>
            <a:ext cx="2011680" cy="91440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Triage /</a:t>
            </a:r>
            <a:br/>
            <a:r>
              <a:t>OPD Queue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72400" y="1719072"/>
            <a:ext cx="640080" cy="219456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371600"/>
            <a:ext cx="2011680" cy="91440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Doctor</a:t>
            </a:r>
            <a:br/>
            <a:r>
              <a:t>Consultation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699"/>
                </a:solidFill>
                <a:latin typeface="Calibri"/>
              </a:defRPr>
            </a:pPr>
            <a:r>
              <a:t>▼  Doctor Decides  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017520"/>
            <a:ext cx="2011680" cy="82296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Lab</a:t>
            </a:r>
            <a:br/>
            <a:r>
              <a:t>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3017520"/>
            <a:ext cx="2011680" cy="82296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Imaging /</a:t>
            </a:r>
            <a:br/>
            <a:r>
              <a:t>Radiology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017520"/>
            <a:ext cx="2011680" cy="82296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Pharmacy</a:t>
            </a:r>
            <a:br/>
            <a:r>
              <a:t>Medications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017520"/>
            <a:ext cx="2011680" cy="822960"/>
          </a:xfrm>
          <a:prstGeom prst="round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Admit to</a:t>
            </a:r>
            <a:br/>
            <a:r>
              <a:t>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3017520"/>
            <a:ext cx="2011680" cy="82296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Refer</a:t>
            </a:r>
            <a:br/>
            <a:r>
              <a:t>External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699"/>
                </a:solidFill>
                <a:latin typeface="Calibri"/>
              </a:defRPr>
            </a:pPr>
            <a:r>
              <a:t>▼  Results Return to Doctor  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663440"/>
            <a:ext cx="2194560" cy="9144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Follow-up</a:t>
            </a:r>
            <a:br/>
            <a:r>
              <a:t>Scheduled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91840" y="5010912"/>
            <a:ext cx="548640" cy="219456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0480" y="4663440"/>
            <a:ext cx="2194560" cy="9144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Billing &amp;</a:t>
            </a:r>
            <a:br/>
            <a:r>
              <a:t>Payment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35040" y="5010912"/>
            <a:ext cx="548640" cy="219456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4663440"/>
            <a:ext cx="2194560" cy="9144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Discharge</a:t>
            </a:r>
            <a:br/>
            <a:r>
              <a:t>Summary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78240" y="5010912"/>
            <a:ext cx="548640" cy="219456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4663440"/>
            <a:ext cx="2194560" cy="9144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Insurance</a:t>
            </a:r>
            <a:br/>
            <a:r>
              <a:t>Claim Filed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BILLING &amp; LABORATORY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💰 Billing / Revenue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37360"/>
            <a:ext cx="3200400" cy="365760"/>
          </a:xfrm>
          <a:prstGeom prst="roundRect">
            <a:avLst/>
          </a:prstGeom>
          <a:solidFill>
            <a:srgbClr val="E67300"/>
          </a:solidFill>
          <a:ln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Services Rendered</a:t>
            </a:r>
          </a:p>
        </p:txBody>
      </p:sp>
      <p:sp>
        <p:nvSpPr>
          <p:cNvPr id="6" name="Down Arrow 5"/>
          <p:cNvSpPr/>
          <p:nvPr/>
        </p:nvSpPr>
        <p:spPr>
          <a:xfrm>
            <a:off x="2834640" y="2103120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267712"/>
            <a:ext cx="3200400" cy="365760"/>
          </a:xfrm>
          <a:prstGeom prst="roundRect">
            <a:avLst/>
          </a:prstGeom>
          <a:solidFill>
            <a:srgbClr val="E67300"/>
          </a:solidFill>
          <a:ln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Charges Captured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34640" y="2633472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798064"/>
            <a:ext cx="3200400" cy="365760"/>
          </a:xfrm>
          <a:prstGeom prst="roundRect">
            <a:avLst/>
          </a:prstGeom>
          <a:solidFill>
            <a:srgbClr val="E67300"/>
          </a:solidFill>
          <a:ln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Insurance Check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834640" y="3163824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3328416"/>
            <a:ext cx="3200400" cy="365760"/>
          </a:xfrm>
          <a:prstGeom prst="roundRect">
            <a:avLst/>
          </a:prstGeom>
          <a:solidFill>
            <a:srgbClr val="E67300"/>
          </a:solidFill>
          <a:ln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Invoice Generated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34640" y="3694176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3858768"/>
            <a:ext cx="3200400" cy="365760"/>
          </a:xfrm>
          <a:prstGeom prst="roundRect">
            <a:avLst/>
          </a:prstGeom>
          <a:solidFill>
            <a:srgbClr val="E67300"/>
          </a:solidFill>
          <a:ln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Payment Collected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834640" y="4224528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389120"/>
            <a:ext cx="3200400" cy="365760"/>
          </a:xfrm>
          <a:prstGeom prst="roundRect">
            <a:avLst/>
          </a:prstGeom>
          <a:solidFill>
            <a:srgbClr val="E67300"/>
          </a:solidFill>
          <a:ln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Claim Submitted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34640" y="4754880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4919472"/>
            <a:ext cx="3200400" cy="365760"/>
          </a:xfrm>
          <a:prstGeom prst="roundRect">
            <a:avLst/>
          </a:prstGeom>
          <a:solidFill>
            <a:srgbClr val="E67300"/>
          </a:solidFill>
          <a:ln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Reconciliation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834640" y="5285232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71600" y="5449824"/>
            <a:ext cx="3200400" cy="365760"/>
          </a:xfrm>
          <a:prstGeom prst="roundRect">
            <a:avLst/>
          </a:prstGeom>
          <a:solidFill>
            <a:srgbClr val="E67300"/>
          </a:solidFill>
          <a:ln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Receipt Issued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🔬 Laboratory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737360"/>
            <a:ext cx="3200400" cy="365760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Doctor Orders Test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78240" y="2103120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2267712"/>
            <a:ext cx="3200400" cy="365760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Order in Lab Queue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778240" y="2633472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2798064"/>
            <a:ext cx="3200400" cy="365760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Sample Collection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78240" y="3163824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3328416"/>
            <a:ext cx="3200400" cy="365760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Processing (Analyzer)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778240" y="3694176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3858768"/>
            <a:ext cx="3200400" cy="365760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Result Entry / Capture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778240" y="4224528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0" y="4389120"/>
            <a:ext cx="3200400" cy="365760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Validation (QC)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8778240" y="4754880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0" y="4919472"/>
            <a:ext cx="3200400" cy="365760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Report to EMR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778240" y="5285232"/>
            <a:ext cx="274320" cy="164592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5449824"/>
            <a:ext cx="3200400" cy="365760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Doctor Notified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EMERGENCY &amp; SURGERY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1E1E"/>
                </a:solidFill>
                <a:latin typeface="Calibri"/>
              </a:defRPr>
            </a:pPr>
            <a:r>
              <a:t>🚑 Emergency Department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37360"/>
            <a:ext cx="3200400" cy="411480"/>
          </a:xfrm>
          <a:prstGeom prst="roundRect">
            <a:avLst/>
          </a:prstGeom>
          <a:solidFill>
            <a:srgbClr val="B41E1E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Ambulance / Walk-in</a:t>
            </a:r>
          </a:p>
        </p:txBody>
      </p:sp>
      <p:sp>
        <p:nvSpPr>
          <p:cNvPr id="6" name="Down Arrow 5"/>
          <p:cNvSpPr/>
          <p:nvPr/>
        </p:nvSpPr>
        <p:spPr>
          <a:xfrm>
            <a:off x="2834640" y="2148840"/>
            <a:ext cx="274320" cy="18288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331720"/>
            <a:ext cx="3200400" cy="411480"/>
          </a:xfrm>
          <a:prstGeom prst="roundRect">
            <a:avLst/>
          </a:prstGeom>
          <a:solidFill>
            <a:srgbClr val="B41E1E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Rapid Registration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34640" y="2743200"/>
            <a:ext cx="274320" cy="18288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3200400" cy="411480"/>
          </a:xfrm>
          <a:prstGeom prst="roundRect">
            <a:avLst/>
          </a:prstGeom>
          <a:solidFill>
            <a:srgbClr val="B41E1E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Triage (ESI 1-5)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834640" y="3337560"/>
            <a:ext cx="274320" cy="18288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3520440"/>
            <a:ext cx="3200400" cy="411480"/>
          </a:xfrm>
          <a:prstGeom prst="roundRect">
            <a:avLst/>
          </a:prstGeom>
          <a:solidFill>
            <a:srgbClr val="B41E1E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Assign ER Bay/Bed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34640" y="3931920"/>
            <a:ext cx="274320" cy="18288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4114800"/>
            <a:ext cx="3200400" cy="411480"/>
          </a:xfrm>
          <a:prstGeom prst="roundRect">
            <a:avLst/>
          </a:prstGeom>
          <a:solidFill>
            <a:srgbClr val="B41E1E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STAT Labs &amp; Imaging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834640" y="4526280"/>
            <a:ext cx="274320" cy="18288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709160"/>
            <a:ext cx="3200400" cy="411480"/>
          </a:xfrm>
          <a:prstGeom prst="roundRect">
            <a:avLst/>
          </a:prstGeom>
          <a:solidFill>
            <a:srgbClr val="B41E1E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Emergency Treatment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34640" y="5120640"/>
            <a:ext cx="274320" cy="18288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5303520"/>
            <a:ext cx="3200400" cy="411480"/>
          </a:xfrm>
          <a:prstGeom prst="roundRect">
            <a:avLst/>
          </a:prstGeom>
          <a:solidFill>
            <a:srgbClr val="B41E1E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Disposition: Admit/DC/Transfer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0066"/>
                </a:solidFill>
                <a:latin typeface="Calibri"/>
              </a:defRPr>
            </a:pPr>
            <a:r>
              <a:t>🏥 Operating Theatre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737360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Surgery Scheduled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778240" y="2084832"/>
            <a:ext cx="274320" cy="146304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2231136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Pre-Op Assessment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78240" y="2578608"/>
            <a:ext cx="274320" cy="146304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2724912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Consent Forms Signed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778240" y="3072384"/>
            <a:ext cx="274320" cy="146304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3218688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WHO Checklist: Sign-In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78240" y="3566160"/>
            <a:ext cx="274320" cy="146304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3712464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WHO Checklist: Time-Out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778240" y="4059936"/>
            <a:ext cx="274320" cy="146304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4206240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Surgery Performed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778240" y="4553712"/>
            <a:ext cx="274320" cy="146304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0" y="4700016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WHO Checklist: Sign-Out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8778240" y="5047488"/>
            <a:ext cx="274320" cy="146304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0" y="5193792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Recovery / PACU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778240" y="5541264"/>
            <a:ext cx="274320" cy="146304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5687568"/>
            <a:ext cx="3200400" cy="347472"/>
          </a:xfrm>
          <a:prstGeom prst="round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Transfer to Ward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INTEGRATION &amp;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Connect with Everything — Standards-Based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INTEGRATIONS &amp; STANDARDS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/ 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HL7 / FHIR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Healthcare Data Exchange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Interoperability with other hospital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DICOM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Medical Imaging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Radiology equipment, PACS servers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ICD-10 / ICD-11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Disease 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Standardized diagnosis coding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SNOMED CT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Clinical Terminology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Structured clinical data recording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Lab Instruments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ASTM / HL7 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Bi-directional analyzer interface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Insurance Portals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Electronic Claims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Pre-auth, eligibility, adjudication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Payment Gateways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Stripe / PayStack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Online payments, mobile money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QuickBooks / Xero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Financial data synchronization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SMS /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Twilio / SendGrid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notifications &amp; reminders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Video Calling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Jitsi / Zoom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Telemedicine consultations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Biometric Devices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Fingerprint / 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Staff attendance, patient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National Health ID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Government Systems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Link with national registries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Bank-Grade Security for Healthcare Data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&amp; COMPLIANCE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Security Feature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🔒 Data Encryption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AES-256 at rest, TLS 1.3 in transit — all data encrypted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🛡️ Access Control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Role-based (RBAC), attribute-based (ABAC), IP whitelisting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📱 Multi-Factor Auth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SMS OTP, authenticator app, biometric second factor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📋 Audit Logging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Every action logged: who, what, when, where, before/after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💾 Data Backup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Hourly incremental, daily full, off-site replication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🔄 Disaster Recovery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RPO &lt; 1 hour, RTO &lt; 4 hours, automated failover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🏥 HIPAA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health data protection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🌍 GDPR Support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Right to access, erasure, data portability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SOC 2 Type II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Service organization security certification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🔍 Penetration Testing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Regular third-party security audits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🔑 Session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Auto-timeout, concurrent limits, device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📍 Data Residency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Choose data storage location for regulations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Modern, Proven, Open-Source Foundation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645920" cy="64008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188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99"/>
                </a:solidFill>
              </a:defRPr>
            </a:pPr>
            <a:r>
              <a:t>React.js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79" y="1188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99"/>
                </a:solidFill>
              </a:defRPr>
            </a:pPr>
            <a:r>
              <a:t>Next.js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188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99"/>
                </a:solidFill>
              </a:defRPr>
            </a:pPr>
            <a:r>
              <a:t>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188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99"/>
                </a:solidFill>
              </a:defRPr>
            </a:pPr>
            <a:r>
              <a:t>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1188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99"/>
                </a:solidFill>
              </a:defRPr>
            </a:pPr>
            <a:r>
              <a:t>Shadcn/UI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03120"/>
            <a:ext cx="164592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1031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9688"/>
                </a:solidFill>
              </a:defRPr>
            </a:pPr>
            <a:r>
              <a:t>React 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79" y="21031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9688"/>
                </a:solidFill>
              </a:defRPr>
            </a:pPr>
            <a:r>
              <a:t>Flutter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1031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9688"/>
                </a:solidFill>
              </a:defRPr>
            </a:pPr>
            <a:r>
              <a:t>Expo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21031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9688"/>
                </a:solidFill>
              </a:defRPr>
            </a:pPr>
            <a:r>
              <a:t>Offline-First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017520"/>
            <a:ext cx="1645920" cy="640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0175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Node.js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79" y="30175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NestJS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30175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TypeScript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30175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GraphQL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30175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REST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0" y="30175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Socket.IO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931920"/>
            <a:ext cx="1645920" cy="64008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39319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33"/>
                </a:solidFill>
              </a:defRPr>
            </a:pPr>
            <a:r>
              <a:t>PostgreSQL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79" y="39319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33"/>
                </a:solidFill>
              </a:defRPr>
            </a:pPr>
            <a:r>
              <a:t>Redis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39319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33"/>
                </a:solidFill>
              </a:defRPr>
            </a:pPr>
            <a:r>
              <a:t>Elasticsearch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199" y="39319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33"/>
                </a:solidFill>
              </a:defRPr>
            </a:pPr>
            <a:r>
              <a:t>MinIO/S3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846320"/>
            <a:ext cx="1645920" cy="64008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48463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67300"/>
                </a:solidFill>
              </a:defRPr>
            </a:pPr>
            <a:r>
              <a:t>Docker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79" y="48463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67300"/>
                </a:solidFill>
              </a:defRPr>
            </a:pPr>
            <a:r>
              <a:t>Kubernetes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8463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67300"/>
                </a:solidFill>
              </a:defRPr>
            </a:pPr>
            <a:r>
              <a:t>GitHub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199" y="48463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67300"/>
                </a:solidFill>
              </a:defRPr>
            </a:pPr>
            <a:r>
              <a:t>Terraform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760720"/>
            <a:ext cx="1645920" cy="64008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MONITORING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5760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60066"/>
                </a:solidFill>
              </a:defRPr>
            </a:pPr>
            <a:r>
              <a:t>Prometheus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79" y="5760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60066"/>
                </a:solidFill>
              </a:defRPr>
            </a:pPr>
            <a:r>
              <a:t>Grafana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5760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60066"/>
                </a:solidFill>
              </a:defRPr>
            </a:pPr>
            <a:r>
              <a:t>ELK 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199" y="5760720"/>
            <a:ext cx="155448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60066"/>
                </a:solidFill>
              </a:defRPr>
            </a:pPr>
            <a:r>
              <a:t>Sentry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Phased Delivery Over 12 Months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12-MONTH IMPLEMENTATION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914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1: Foundation</a:t>
            </a:r>
          </a:p>
          <a:p>
            <a:pPr algn="ctr">
              <a:defRPr sz="900">
                <a:solidFill>
                  <a:srgbClr val="DCDCFF"/>
                </a:solidFill>
              </a:defRPr>
            </a:pPr>
            <a:r>
              <a:t>Months 1-3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Patient registration, User management, Basic EMR, Appointment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286000" cy="91440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2: Clinical Core</a:t>
            </a:r>
          </a:p>
          <a:p>
            <a:pPr algn="ctr">
              <a:defRPr sz="900">
                <a:solidFill>
                  <a:srgbClr val="DCDCFF"/>
                </a:solidFill>
              </a:defRPr>
            </a:pPr>
            <a:r>
              <a:t>Months 4-6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3774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Full EMR + templates, OPD workflow, Lab (LIS), Pharmacy, Billing, Nursing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2286000" cy="91440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3: Advanced</a:t>
            </a:r>
          </a:p>
          <a:p>
            <a:pPr algn="ctr">
              <a:defRPr sz="900">
                <a:solidFill>
                  <a:srgbClr val="DCDCFF"/>
                </a:solidFill>
              </a:defRPr>
            </a:pPr>
            <a:r>
              <a:t>Months 7-9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47472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IPD/Wards, Emergency Dept, Operating Theatre, Radiology/PACS, Blood Bank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59"/>
            <a:ext cx="2286000" cy="91440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4: Analytics</a:t>
            </a:r>
          </a:p>
          <a:p>
            <a:pPr algn="ctr">
              <a:defRPr sz="900">
                <a:solidFill>
                  <a:srgbClr val="DCDCFF"/>
                </a:solidFill>
              </a:defRPr>
            </a:pPr>
            <a:r>
              <a:t>Months 10-11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571999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Admin dashboard, BI &amp; Reports, Insurance integration, Payment gateways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577840"/>
            <a:ext cx="2286000" cy="914400"/>
          </a:xfrm>
          <a:prstGeom prst="round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5: Launch</a:t>
            </a:r>
          </a:p>
          <a:p>
            <a:pPr algn="ctr">
              <a:defRPr sz="900">
                <a:solidFill>
                  <a:srgbClr val="DCDCFF"/>
                </a:solidFill>
              </a:defRPr>
            </a:pPr>
            <a:r>
              <a:t>Month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66928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Performance tuning, Security hardening, Training, Data migration, GO-LIVE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6464"/>
                </a:solidFill>
                <a:latin typeface="Calibri"/>
              </a:defRPr>
            </a:pPr>
            <a:r>
              <a:t>M1    M2    M3    M4    M5    M6    M7    M8    M9    M10   M11   M12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PRICING &amp;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Flexible Plans for Every Hospital Size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PRICING &amp; LICENSING OPTIONS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Hospital Size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Up to 50 beds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Core EMR, OPD, Pharmacy, Lab, Billing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Quote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Professional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50 – 200 beds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All Starter + IPD, ER, OT, HR, Analytics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Quote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200+ beds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suite + PACS, API access, custom 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Quote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Cloud Hosted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Any size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SaaS model — monthly per-user pricing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Quote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On-Premise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Any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Self-hosted with perpetual license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Quote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✅ ALL PLANS INCLUDE: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• Implementation support &amp; project management</a:t>
            </a:r>
          </a:p>
          <a:p>
            <a:pPr>
              <a:spcAft>
                <a:spcPts val="624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• Data migration from existing systems</a:t>
            </a:r>
          </a:p>
          <a:p>
            <a:pPr>
              <a:spcAft>
                <a:spcPts val="624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• User training (on-site + virtual sessions)</a:t>
            </a:r>
          </a:p>
          <a:p>
            <a:pPr>
              <a:spcAft>
                <a:spcPts val="624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• 12-month warranty &amp; bug fixes</a:t>
            </a:r>
          </a:p>
          <a:p>
            <a:pPr>
              <a:spcAft>
                <a:spcPts val="624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• Technical documentation &amp; user guides</a:t>
            </a:r>
          </a:p>
          <a:p>
            <a:pPr>
              <a:spcAft>
                <a:spcPts val="624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• Dedicated account manager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SUPPORT &amp;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We're With You Every Step of the Way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SUPPORT &amp; MAINTENANCE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24/7 Help Desk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Round-the-clock support via phone, email, and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Dedicated Account Mgr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Single point of contact for your hospital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Remote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Screen-sharing for troubleshooting and guidance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On-Site Support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Available for critical issues and installations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Regular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Security patches, feature updates, bug fixes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Annual Health Check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System performance review and optimization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Training 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Quarterly refresher training for staff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Knowledge Base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Online documentation and video tutorials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SLA Guarantee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99.9% uptime, &lt;1hr response for critical issues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Migration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Expert assistance migrating from existing systems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CHOOSE OUR EMR?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10 Reasons to Partner with Us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 REASONS TO CHOOSE OUR EMR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Purpose-Built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Designed specifically for private hospitals — not generic</a:t>
            </a:r>
          </a:p>
        </p:txBody>
      </p:sp>
      <p:sp>
        <p:nvSpPr>
          <p:cNvPr id="7" name="Oval 6"/>
          <p:cNvSpPr/>
          <p:nvPr/>
        </p:nvSpPr>
        <p:spPr>
          <a:xfrm>
            <a:off x="6309360" y="118872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188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All-in-One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No need for multiple vendor systems — everything integrated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Modern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Fast, responsive, mobile-ready — built with latest tools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28600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06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Grows with you from 10-bed clinic to 1000+ bed hospital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Interoperable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HL7/FHIR/DICOM compliant — integrates with anything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38328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383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Secure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703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Bank-grade AES-256 encryption + full audit trail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480559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Affordable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059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Flexible licensing, no hidden costs, strong ROI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480559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4805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Local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80059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Dedicated support team in your region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57784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Fast 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97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Go live in as little as 3 months (Phase 1 MVP)</a:t>
            </a:r>
          </a:p>
        </p:txBody>
      </p:sp>
      <p:sp>
        <p:nvSpPr>
          <p:cNvPr id="31" name="Oval 30"/>
          <p:cNvSpPr/>
          <p:nvPr/>
        </p:nvSpPr>
        <p:spPr>
          <a:xfrm>
            <a:off x="6309360" y="557784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Proven ROI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897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Hospitals report 30-50% efficiency improvement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IN-PATIENT &amp; PHARMACY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🛏️ In-Patient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37360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Admission Request</a:t>
            </a:r>
          </a:p>
        </p:txBody>
      </p:sp>
      <p:sp>
        <p:nvSpPr>
          <p:cNvPr id="6" name="Down Arrow 5"/>
          <p:cNvSpPr/>
          <p:nvPr/>
        </p:nvSpPr>
        <p:spPr>
          <a:xfrm>
            <a:off x="2834640" y="2084832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221992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Check Bed Availability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34640" y="2569464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706624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Assign Bed (Ward/ICU)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834640" y="3054096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3191256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Admission Documentation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34640" y="3538728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3675888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Daily Rounds &amp; Orders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834640" y="4023360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160520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Nursing Care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34640" y="4507992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4645152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Discharge Planning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834640" y="4992624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71600" y="5129784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All-Dept Clearance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34640" y="5477256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5614416"/>
            <a:ext cx="320040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Discharge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33"/>
                </a:solidFill>
                <a:latin typeface="Calibri"/>
              </a:defRPr>
            </a:pPr>
            <a:r>
              <a:t>💊 Pharmacy 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737360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E-Prescription Received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778240" y="2084832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2221992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Verify Patient &amp; Allergy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78240" y="2569464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2706624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Drug Interaction Check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778240" y="3054096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3191256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Dispense Medication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778240" y="3538728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0" y="3675888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Barcode Scan &amp; Verify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8778240" y="4023360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0" y="4160520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Label Printing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778240" y="4507992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4645152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Patient Counselling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8778240" y="4992624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0" y="5129784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Billing &amp; Payment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8778240" y="5477256"/>
            <a:ext cx="274320" cy="137160"/>
          </a:xfrm>
          <a:prstGeom prst="down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0" y="5614416"/>
            <a:ext cx="3200400" cy="347472"/>
          </a:xfrm>
          <a:prstGeom prst="round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Update Inventory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SAMPLE DASHBOARD — KPI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1945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Total Patients</a:t>
            </a:r>
            <a:br/>
            <a:r>
              <a:t>Today</a:t>
            </a:r>
          </a:p>
          <a:p>
            <a:pPr algn="ctr">
              <a:defRPr sz="2200" b="1">
                <a:solidFill>
                  <a:srgbClr val="003366"/>
                </a:solidFill>
              </a:defRPr>
            </a:pPr>
            <a:r>
              <a:t>1,247</a:t>
            </a:r>
          </a:p>
          <a:p>
            <a:pPr algn="ctr">
              <a:defRPr sz="1000">
                <a:solidFill>
                  <a:srgbClr val="006633"/>
                </a:solidFill>
              </a:defRPr>
            </a:pPr>
            <a:r>
              <a:t>▲ 12%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39" y="1188720"/>
            <a:ext cx="21945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Bed Occupancy</a:t>
            </a:r>
            <a:br/>
            <a:r>
              <a:t>Rate</a:t>
            </a:r>
          </a:p>
          <a:p>
            <a:pPr algn="ctr">
              <a:defRPr sz="2200" b="1">
                <a:solidFill>
                  <a:srgbClr val="006633"/>
                </a:solidFill>
              </a:defRPr>
            </a:pPr>
            <a:r>
              <a:t>78%</a:t>
            </a:r>
          </a:p>
          <a:p>
            <a:pPr algn="ctr">
              <a:defRPr sz="1000">
                <a:solidFill>
                  <a:srgbClr val="006633"/>
                </a:solidFill>
              </a:defRPr>
            </a:pPr>
            <a:r>
              <a:t>▲ 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1188720"/>
            <a:ext cx="21945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Revenue</a:t>
            </a:r>
            <a:br/>
            <a:r>
              <a:t>This Month</a:t>
            </a:r>
          </a:p>
          <a:p>
            <a:pPr algn="ctr">
              <a:defRPr sz="2200" b="1">
                <a:solidFill>
                  <a:srgbClr val="E67300"/>
                </a:solidFill>
              </a:defRPr>
            </a:pPr>
            <a:r>
              <a:t>$355,400</a:t>
            </a:r>
          </a:p>
          <a:p>
            <a:pPr algn="ctr">
              <a:defRPr sz="1000">
                <a:solidFill>
                  <a:srgbClr val="006633"/>
                </a:solidFill>
              </a:defRPr>
            </a:pPr>
            <a:r>
              <a:t>▲ 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79" y="1188720"/>
            <a:ext cx="21945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Average Wait</a:t>
            </a:r>
            <a:br/>
            <a:r>
              <a:t>Time (OPD)</a:t>
            </a:r>
          </a:p>
          <a:p>
            <a:pPr algn="ctr">
              <a:defRPr sz="2200" b="1">
                <a:solidFill>
                  <a:srgbClr val="006699"/>
                </a:solidFill>
              </a:defRPr>
            </a:pPr>
            <a:r>
              <a:t>18 min</a:t>
            </a:r>
          </a:p>
          <a:p>
            <a:pPr algn="ctr">
              <a:defRPr sz="1000">
                <a:solidFill>
                  <a:srgbClr val="B41E1E"/>
                </a:solidFill>
              </a:defRPr>
            </a:pPr>
            <a:r>
              <a:t>▼ 22%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188720"/>
            <a:ext cx="21945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Lab TAT</a:t>
            </a:r>
            <a:br/>
            <a:r>
              <a:t>(Routine)</a:t>
            </a:r>
          </a:p>
          <a:p>
            <a:pPr algn="ctr">
              <a:defRPr sz="2200" b="1">
                <a:solidFill>
                  <a:srgbClr val="660066"/>
                </a:solidFill>
              </a:defRPr>
            </a:pPr>
            <a:r>
              <a:t>2.5 hrs</a:t>
            </a:r>
          </a:p>
          <a:p>
            <a:pPr algn="ctr">
              <a:defRPr sz="1000">
                <a:solidFill>
                  <a:srgbClr val="B41E1E"/>
                </a:solidFill>
              </a:defRPr>
            </a:pPr>
            <a:r>
              <a:t>▼ 15%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310896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Department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Efficiency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Satisfaction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18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$45,200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4.3/5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Emergency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 min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$38,100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4.1/5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Surgery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 schedule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$85,000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Laboratory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680 tests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2.5 hrs TAT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$32,400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4.2/5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Pharmacy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890 Rx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 min avg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$55,300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4.0/5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Radiology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120 scans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45 min TAT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$28,600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4.4/5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IPD (Wards)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96 beds 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Avg 3.2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4.3/5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COMPETITIVE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6540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352"/>
                <a:gridCol w="2816352"/>
                <a:gridCol w="2816352"/>
                <a:gridCol w="2816352"/>
              </a:tblGrid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EMR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 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 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All Modules Integrated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Separate vendors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Cloud + On-Premise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Both options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☁️ Cloud only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🏢 On-prem only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Full-featured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⚠️ 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Telemedicine Built-in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Integrated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3rd party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Report 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Drag &amp; drop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⚠️ 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⚠️ 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PACS/DICOM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Integrated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Separate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AI / Clinical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Included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HL7/FHIR Compliant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✅ Full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Implementation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3-12 months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12-18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6-12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 Cost of Ownership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💰 Lower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💸 Higher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💰 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RECOMMENDED 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371600"/>
            <a:ext cx="731520" cy="73152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Calibri"/>
              </a:defRPr>
            </a:pPr>
            <a:r>
              <a:t>Discovery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Calibri"/>
              </a:defRPr>
            </a:pPr>
            <a:r>
              <a:t>Deep-dive into your hospital's specific requirements,</a:t>
            </a:r>
            <a:br/>
            <a:r>
              <a:t>departments, workflows, and pain points</a:t>
            </a:r>
          </a:p>
        </p:txBody>
      </p:sp>
      <p:sp>
        <p:nvSpPr>
          <p:cNvPr id="7" name="Oval 6"/>
          <p:cNvSpPr/>
          <p:nvPr/>
        </p:nvSpPr>
        <p:spPr>
          <a:xfrm>
            <a:off x="3154679" y="1371600"/>
            <a:ext cx="731520" cy="73152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33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Calibri"/>
              </a:defRPr>
            </a:pPr>
            <a:r>
              <a:t>See the system in action with your real-world</a:t>
            </a:r>
            <a:br/>
            <a:r>
              <a:t>scenarios and clinical workflows</a:t>
            </a:r>
          </a:p>
        </p:txBody>
      </p:sp>
      <p:sp>
        <p:nvSpPr>
          <p:cNvPr id="10" name="Oval 9"/>
          <p:cNvSpPr/>
          <p:nvPr/>
        </p:nvSpPr>
        <p:spPr>
          <a:xfrm>
            <a:off x="5486399" y="1371600"/>
            <a:ext cx="731520" cy="731520"/>
          </a:xfrm>
          <a:prstGeom prst="ellipse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300"/>
                </a:solidFill>
                <a:latin typeface="Calibri"/>
              </a:defRPr>
            </a:pPr>
            <a:r>
              <a:t>Proposal &amp;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Calibri"/>
              </a:defRPr>
            </a:pPr>
            <a:r>
              <a:t>Detailed proposal with scope, timeline,</a:t>
            </a:r>
            <a:br/>
            <a:r>
              <a:t>cost, and implementation plan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19" y="1371600"/>
            <a:ext cx="731520" cy="731520"/>
          </a:xfrm>
          <a:prstGeom prst="ellipse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0066"/>
                </a:solidFill>
                <a:latin typeface="Calibri"/>
              </a:defRPr>
            </a:pPr>
            <a:r>
              <a:t>Pilot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Calibri"/>
              </a:defRPr>
            </a:pPr>
            <a:r>
              <a:t>Start with Phase 1 (3 months) in one department</a:t>
            </a:r>
            <a:br/>
            <a:r>
              <a:t>to prove value before full rollout</a:t>
            </a:r>
          </a:p>
        </p:txBody>
      </p:sp>
      <p:sp>
        <p:nvSpPr>
          <p:cNvPr id="16" name="Oval 15"/>
          <p:cNvSpPr/>
          <p:nvPr/>
        </p:nvSpPr>
        <p:spPr>
          <a:xfrm>
            <a:off x="10149840" y="1371600"/>
            <a:ext cx="731520" cy="731520"/>
          </a:xfrm>
          <a:prstGeom prst="ellipse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1E1E"/>
                </a:solidFill>
                <a:latin typeface="Calibri"/>
              </a:defRPr>
            </a:pPr>
            <a:r>
              <a:t>Full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Calibri"/>
              </a:defRPr>
            </a:pPr>
            <a:r>
              <a:t>Phased rollout across all departments</a:t>
            </a:r>
            <a:br/>
            <a:r>
              <a:t>over 12 months with training &amp;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029200"/>
            <a:ext cx="850392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Let's schedule a discovery meeting to understand your needs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D2F0"/>
                </a:solidFill>
                <a:latin typeface="Calibri"/>
              </a:defRPr>
            </a:pPr>
            <a:r>
              <a:t>We'll prepare a customized demo based on your hospital's workflow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Ready to 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4B4FF"/>
                </a:solidFill>
                <a:latin typeface="Calibri"/>
              </a:defRPr>
            </a:pPr>
            <a:r>
              <a:t>Your Hospital?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2F0"/>
                </a:solidFill>
                <a:latin typeface="Calibri"/>
              </a:defRPr>
            </a:pPr>
            <a:r>
              <a:t>Contact us for a personalized demo and consultation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2286000" cy="91440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6B4D2"/>
                </a:solidFill>
              </a:defRPr>
            </a:pPr>
            <a:r>
              <a:t>📧 Email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info@hospitalemr.com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2286000" cy="91440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6B4D2"/>
                </a:solidFill>
              </a:defRPr>
            </a:pPr>
            <a:r>
              <a:t>📞 Phone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+XXX-XXX-XXXX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572000"/>
            <a:ext cx="2286000" cy="91440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6B4D2"/>
                </a:solidFill>
              </a:defRPr>
            </a:pPr>
            <a:r>
              <a:t>🌐 Website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www.hospitalemr.com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8CA0"/>
                </a:solidFill>
                <a:latin typeface="Calibri"/>
              </a:defRPr>
            </a:pPr>
            <a:r>
              <a:t>CONFIDENTIAL  |  © 2026 Hospital EMR Solutions  | 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