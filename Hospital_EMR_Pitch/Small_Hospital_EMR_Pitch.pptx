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0" y="914400"/>
            <a:ext cx="210312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000"/>
            </a:pPr>
            <a:r>
              <a:t>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SMALL HOSPITAL EMR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84048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4D2F0"/>
                </a:solidFill>
                <a:latin typeface="Calibri"/>
              </a:defRPr>
            </a:pPr>
            <a:r>
              <a:t>Modern Cloud-Based Electronic Medical Records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754880"/>
            <a:ext cx="8503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6B4D2"/>
                </a:solidFill>
                <a:latin typeface="Calibri"/>
              </a:defRPr>
            </a:pPr>
            <a:r>
              <a:t>For 50-200 Bed Private Hospitals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61264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4C8DC"/>
                </a:solidFill>
                <a:latin typeface="Calibri"/>
              </a:defRPr>
            </a:pPr>
            <a:r>
              <a:t>COMPREHENSIVE PITCH &amp; DEPLOYMENT GUIDE   |   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TABLE OF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3366"/>
                </a:solidFill>
                <a:latin typeface="Calibri"/>
              </a:defRPr>
            </a:pPr>
            <a:r>
              <a:t>1. What is This EMR?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0" y="11887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3366"/>
                </a:solidFill>
                <a:latin typeface="Calibri"/>
              </a:defRPr>
            </a:pPr>
            <a:r>
              <a:t>2. Why Choose This Solution?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11887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3366"/>
                </a:solidFill>
                <a:latin typeface="Calibri"/>
              </a:defRPr>
            </a:pPr>
            <a:r>
              <a:t>3. Complete Feature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3366"/>
                </a:solidFill>
                <a:latin typeface="Calibri"/>
              </a:defRPr>
            </a:pPr>
            <a:r>
              <a:t>4. System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292608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3366"/>
                </a:solidFill>
                <a:latin typeface="Calibri"/>
              </a:defRPr>
            </a:pPr>
            <a:r>
              <a:t>5. Workflow Demonstrations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292608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3366"/>
                </a:solidFill>
                <a:latin typeface="Calibri"/>
              </a:defRPr>
            </a:pPr>
            <a:r>
              <a:t>6. Key Benefits &amp; ROI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6634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3366"/>
                </a:solidFill>
                <a:latin typeface="Calibri"/>
              </a:defRPr>
            </a:pPr>
            <a:r>
              <a:t>7. Implementation Timeline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46634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3366"/>
                </a:solidFill>
                <a:latin typeface="Calibri"/>
              </a:defRPr>
            </a:pPr>
            <a:r>
              <a:t>8. Pricing &amp; Licensing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46634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3366"/>
                </a:solidFill>
                <a:latin typeface="Calibri"/>
              </a:defRPr>
            </a:pPr>
            <a:r>
              <a:t>9. Security &amp; Compliance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00799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3366"/>
                </a:solidFill>
                <a:latin typeface="Calibri"/>
              </a:defRPr>
            </a:pPr>
            <a:r>
              <a:t>10. Deployment 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6400799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3366"/>
                </a:solidFill>
                <a:latin typeface="Calibri"/>
              </a:defRPr>
            </a:pPr>
            <a:r>
              <a:t>11. Support &amp; Training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6400799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3366"/>
                </a:solidFill>
                <a:latin typeface="Calibri"/>
              </a:defRPr>
            </a:pPr>
            <a:r>
              <a:t>12.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WHAT IS THIS EMR SYSTEM?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4712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5892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Aspect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Modern Solution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Cloud-based electronic medical records system built specifically for small private hospitals (50-200 beds)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Complete Integration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All departments connected on a single platform — Patient, EMR, Lab, Pharmacy, Billing, Nursing, Admin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Easy to Use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Intuitive web interface designed for busy clinicians — no steep learning curve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Scalable Infrastructure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Grows with your hospital — from 50 beds to 500+ beds without any code changes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Affordable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Modern cloud stack keeps costs low ($200-300/month) vs traditional EMR ($5-10K/month)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Security First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Bank-grade AES-256 encryption, HIPAA-compliant design, complete audit trail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Fast Deployment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12 weeks from order to live system, fully deployed and ready to go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Owned by You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You own the code and data — no vendor lock-in, can modify/extend as needed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WHY CHOOSE THIS SOLUTION?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Calibri"/>
              </a:defRPr>
            </a:pPr>
            <a:r>
              <a:t>10 Reasons Small Hospitals Are Choosing This EMR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1920240"/>
            <a:ext cx="320040" cy="320040"/>
          </a:xfrm>
          <a:prstGeom prst="ellipse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Calibri"/>
              </a:defRPr>
            </a:pPr>
            <a:r>
              <a:t>1. Cost-Effective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6464"/>
                </a:solidFill>
                <a:latin typeface="Calibri"/>
              </a:defRPr>
            </a:pPr>
            <a:r>
              <a:t>$200-300/month vs $5-10K/month for enterprise solutions</a:t>
            </a:r>
          </a:p>
        </p:txBody>
      </p:sp>
      <p:sp>
        <p:nvSpPr>
          <p:cNvPr id="8" name="Oval 7"/>
          <p:cNvSpPr/>
          <p:nvPr/>
        </p:nvSpPr>
        <p:spPr>
          <a:xfrm>
            <a:off x="6309360" y="1920240"/>
            <a:ext cx="320040" cy="320040"/>
          </a:xfrm>
          <a:prstGeom prst="ellipse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19202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Calibri"/>
              </a:defRPr>
            </a:pPr>
            <a:r>
              <a:t>2. No IT Team Needed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1945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6464"/>
                </a:solidFill>
                <a:latin typeface="Calibri"/>
              </a:defRPr>
            </a:pPr>
            <a:r>
              <a:t>Managed cloud services — all infrastructure handled by experts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2834640"/>
            <a:ext cx="320040" cy="320040"/>
          </a:xfrm>
          <a:prstGeom prst="ellipse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8346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Calibri"/>
              </a:defRPr>
            </a:pPr>
            <a:r>
              <a:t>3. Fast Deployment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089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6464"/>
                </a:solidFill>
                <a:latin typeface="Calibri"/>
              </a:defRPr>
            </a:pPr>
            <a:r>
              <a:t>12 weeks start-to-finish (vs 2 years for traditional EMR)</a:t>
            </a:r>
          </a:p>
        </p:txBody>
      </p:sp>
      <p:sp>
        <p:nvSpPr>
          <p:cNvPr id="14" name="Oval 13"/>
          <p:cNvSpPr/>
          <p:nvPr/>
        </p:nvSpPr>
        <p:spPr>
          <a:xfrm>
            <a:off x="6309360" y="2834640"/>
            <a:ext cx="320040" cy="320040"/>
          </a:xfrm>
          <a:prstGeom prst="ellipse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28346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Calibri"/>
              </a:defRPr>
            </a:pPr>
            <a:r>
              <a:t>4. All-in-One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31089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6464"/>
                </a:solidFill>
                <a:latin typeface="Calibri"/>
              </a:defRPr>
            </a:pPr>
            <a:r>
              <a:t>Patient, EMR, Lab, Pharmacy, Billing, Nursing — all integrated</a:t>
            </a:r>
          </a:p>
        </p:txBody>
      </p:sp>
      <p:sp>
        <p:nvSpPr>
          <p:cNvPr id="17" name="Oval 16"/>
          <p:cNvSpPr/>
          <p:nvPr/>
        </p:nvSpPr>
        <p:spPr>
          <a:xfrm>
            <a:off x="457200" y="3749039"/>
            <a:ext cx="320040" cy="320040"/>
          </a:xfrm>
          <a:prstGeom prst="ellipse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74903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Calibri"/>
              </a:defRPr>
            </a:pPr>
            <a:r>
              <a:t>5. Modern Technology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023359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6464"/>
                </a:solidFill>
                <a:latin typeface="Calibri"/>
              </a:defRPr>
            </a:pPr>
            <a:r>
              <a:t>Built with latest tech stack (React, Node.js, PostgreSQL)</a:t>
            </a:r>
          </a:p>
        </p:txBody>
      </p:sp>
      <p:sp>
        <p:nvSpPr>
          <p:cNvPr id="20" name="Oval 19"/>
          <p:cNvSpPr/>
          <p:nvPr/>
        </p:nvSpPr>
        <p:spPr>
          <a:xfrm>
            <a:off x="6309360" y="3749039"/>
            <a:ext cx="320040" cy="320040"/>
          </a:xfrm>
          <a:prstGeom prst="ellipse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374903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Calibri"/>
              </a:defRPr>
            </a:pPr>
            <a:r>
              <a:t>6. Easy to Use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4023359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6464"/>
                </a:solidFill>
                <a:latin typeface="Calibri"/>
              </a:defRPr>
            </a:pPr>
            <a:r>
              <a:t>Designed for busy clinicians, not IT specialists</a:t>
            </a:r>
          </a:p>
        </p:txBody>
      </p:sp>
      <p:sp>
        <p:nvSpPr>
          <p:cNvPr id="23" name="Oval 22"/>
          <p:cNvSpPr/>
          <p:nvPr/>
        </p:nvSpPr>
        <p:spPr>
          <a:xfrm>
            <a:off x="457200" y="4663440"/>
            <a:ext cx="320040" cy="320040"/>
          </a:xfrm>
          <a:prstGeom prst="ellipse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6634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Calibri"/>
              </a:defRPr>
            </a:pPr>
            <a:r>
              <a:t>7. Secure &amp; Compliant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9377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6464"/>
                </a:solidFill>
                <a:latin typeface="Calibri"/>
              </a:defRPr>
            </a:pPr>
            <a:r>
              <a:t>HIPAA design, AES-256 encryption, full audit trail</a:t>
            </a:r>
          </a:p>
        </p:txBody>
      </p:sp>
      <p:sp>
        <p:nvSpPr>
          <p:cNvPr id="26" name="Oval 25"/>
          <p:cNvSpPr/>
          <p:nvPr/>
        </p:nvSpPr>
        <p:spPr>
          <a:xfrm>
            <a:off x="6309360" y="4663440"/>
            <a:ext cx="320040" cy="320040"/>
          </a:xfrm>
          <a:prstGeom prst="ellipse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46634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Calibri"/>
              </a:defRPr>
            </a:pPr>
            <a:r>
              <a:t>8. Scalable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49377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6464"/>
                </a:solidFill>
                <a:latin typeface="Calibri"/>
              </a:defRPr>
            </a:pPr>
            <a:r>
              <a:t>Grows from 50 to 500+ beds without major changes</a:t>
            </a:r>
          </a:p>
        </p:txBody>
      </p:sp>
      <p:sp>
        <p:nvSpPr>
          <p:cNvPr id="29" name="Oval 28"/>
          <p:cNvSpPr/>
          <p:nvPr/>
        </p:nvSpPr>
        <p:spPr>
          <a:xfrm>
            <a:off x="457200" y="5577840"/>
            <a:ext cx="320040" cy="320040"/>
          </a:xfrm>
          <a:prstGeom prst="ellipse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5778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Calibri"/>
              </a:defRPr>
            </a:pPr>
            <a:r>
              <a:t>9. Future-Proof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8521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6464"/>
                </a:solidFill>
                <a:latin typeface="Calibri"/>
              </a:defRPr>
            </a:pPr>
            <a:r>
              <a:t>Cloud-based, auto-updates, security patches automatic</a:t>
            </a:r>
          </a:p>
        </p:txBody>
      </p:sp>
      <p:sp>
        <p:nvSpPr>
          <p:cNvPr id="32" name="Oval 31"/>
          <p:cNvSpPr/>
          <p:nvPr/>
        </p:nvSpPr>
        <p:spPr>
          <a:xfrm>
            <a:off x="6309360" y="5577840"/>
            <a:ext cx="320040" cy="320040"/>
          </a:xfrm>
          <a:prstGeom prst="ellipse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55778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Calibri"/>
              </a:defRPr>
            </a:pPr>
            <a:r>
              <a:t>10. Owned by You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58521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6464"/>
                </a:solidFill>
                <a:latin typeface="Calibri"/>
              </a:defRPr>
            </a:pPr>
            <a:r>
              <a:t>Source code is yours, data is yours, can extend as needed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303520" y="1371600"/>
            <a:ext cx="1463040" cy="14630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200"/>
              </a:spcBef>
              <a:defRPr sz="4800" b="1">
                <a:solidFill>
                  <a:srgbClr val="003366"/>
                </a:solidFill>
              </a:defRPr>
            </a:pPr>
            <a: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COMPLETE FEATURE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4D2F0"/>
                </a:solidFill>
                <a:latin typeface="Calibri"/>
              </a:defRPr>
            </a:pPr>
            <a:r>
              <a:t>12 Integrated Modules — Everything You Need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MODULE 1-4: PATIENT &amp; APPOINTMENTS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280160"/>
            <a:ext cx="5669280" cy="45720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📋  1. PATIENT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12121"/>
                </a:solidFill>
                <a:latin typeface="Calibri"/>
              </a:defRPr>
            </a:pPr>
            <a:r>
              <a:t>• New patient registration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488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12121"/>
                </a:solidFill>
                <a:latin typeface="Calibri"/>
              </a:defRPr>
            </a:pPr>
            <a:r>
              <a:t>• Unique patient ID generation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68879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12121"/>
                </a:solidFill>
                <a:latin typeface="Calibri"/>
              </a:defRPr>
            </a:pPr>
            <a:r>
              <a:t>• Medical history tracking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889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12121"/>
                </a:solidFill>
                <a:latin typeface="Calibri"/>
              </a:defRPr>
            </a:pPr>
            <a:r>
              <a:t>• Allergy &amp; alert management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669280" cy="457200"/>
          </a:xfrm>
          <a:prstGeom prst="round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📝  2. ELECTRONIC MEDICAL RECORDS (EMR)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12121"/>
                </a:solidFill>
                <a:latin typeface="Calibri"/>
              </a:defRPr>
            </a:pPr>
            <a:r>
              <a:t>• SOAP consultation notes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488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12121"/>
                </a:solidFill>
                <a:latin typeface="Calibri"/>
              </a:defRPr>
            </a:pPr>
            <a:r>
              <a:t>• Diagnosis recording (ICD-10)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468879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12121"/>
                </a:solidFill>
                <a:latin typeface="Calibri"/>
              </a:defRPr>
            </a:pPr>
            <a:r>
              <a:t>• E-prescribing with drug checks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7889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12121"/>
                </a:solidFill>
                <a:latin typeface="Calibri"/>
              </a:defRPr>
            </a:pPr>
            <a:r>
              <a:t>• Vital signs recording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4023360"/>
            <a:ext cx="5669280" cy="45720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📅  3. APPOINTMENTS &amp; SCHEDULING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5720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12121"/>
                </a:solidFill>
                <a:latin typeface="Calibri"/>
              </a:defRPr>
            </a:pPr>
            <a:r>
              <a:t>• Online appointment booking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8920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12121"/>
                </a:solidFill>
                <a:latin typeface="Calibri"/>
              </a:defRPr>
            </a:pPr>
            <a:r>
              <a:t>• Walk-in queue management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212079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12121"/>
                </a:solidFill>
                <a:latin typeface="Calibri"/>
              </a:defRPr>
            </a:pPr>
            <a:r>
              <a:t>• Doctor availability management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5321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12121"/>
                </a:solidFill>
                <a:latin typeface="Calibri"/>
              </a:defRPr>
            </a:pPr>
            <a:r>
              <a:t>• Automated reminders (SMS/email)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023360"/>
            <a:ext cx="5669280" cy="457200"/>
          </a:xfrm>
          <a:prstGeom prst="round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👨‍⚕️  4. OUT-PATIENT DEPARTMENT (OPD)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5720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12121"/>
                </a:solidFill>
                <a:latin typeface="Calibri"/>
              </a:defRPr>
            </a:pPr>
            <a:r>
              <a:t>• Patient check-in interface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8920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12121"/>
                </a:solidFill>
                <a:latin typeface="Calibri"/>
              </a:defRPr>
            </a:pPr>
            <a:r>
              <a:t>• Queue management display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212079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12121"/>
                </a:solidFill>
                <a:latin typeface="Calibri"/>
              </a:defRPr>
            </a:pPr>
            <a:r>
              <a:t>• Consultation workflow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55321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12121"/>
                </a:solidFill>
                <a:latin typeface="Calibri"/>
              </a:defRPr>
            </a:pPr>
            <a:r>
              <a:t>• Prescription issuing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MODULE 5-8: PHARMACY, LAB &amp; IN-PATIENT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280160"/>
            <a:ext cx="5669280" cy="457200"/>
          </a:xfrm>
          <a:prstGeom prst="roundRect">
            <a:avLst/>
          </a:prstGeom>
          <a:solidFill>
            <a:srgbClr val="E67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💊  5. PHARMACY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12121"/>
                </a:solidFill>
                <a:latin typeface="Calibri"/>
              </a:defRPr>
            </a:pPr>
            <a:r>
              <a:t>• E-prescription receipt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488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12121"/>
                </a:solidFill>
                <a:latin typeface="Calibri"/>
              </a:defRPr>
            </a:pPr>
            <a:r>
              <a:t>• Medication dispensing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68879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12121"/>
                </a:solidFill>
                <a:latin typeface="Calibri"/>
              </a:defRPr>
            </a:pPr>
            <a:r>
              <a:t>• Drug interaction checking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889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12121"/>
                </a:solidFill>
                <a:latin typeface="Calibri"/>
              </a:defRPr>
            </a:pPr>
            <a:r>
              <a:t>• Inventory management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669280" cy="457200"/>
          </a:xfrm>
          <a:prstGeom prst="roundRect">
            <a:avLst/>
          </a:prstGeom>
          <a:solidFill>
            <a:srgbClr val="660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🔬  6. LABORATORY (LIS)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12121"/>
                </a:solidFill>
                <a:latin typeface="Calibri"/>
              </a:defRPr>
            </a:pPr>
            <a:r>
              <a:t>• Digital lab orders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488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12121"/>
                </a:solidFill>
                <a:latin typeface="Calibri"/>
              </a:defRPr>
            </a:pPr>
            <a:r>
              <a:t>• Sample collection tracking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468879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12121"/>
                </a:solidFill>
                <a:latin typeface="Calibri"/>
              </a:defRPr>
            </a:pPr>
            <a:r>
              <a:t>• Result entry interface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7889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12121"/>
                </a:solidFill>
                <a:latin typeface="Calibri"/>
              </a:defRPr>
            </a:pPr>
            <a:r>
              <a:t>• Auto-validation rules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4023360"/>
            <a:ext cx="5669280" cy="457200"/>
          </a:xfrm>
          <a:prstGeom prst="roundRect">
            <a:avLst/>
          </a:prstGeom>
          <a:solidFill>
            <a:srgbClr val="B4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🛏️  7. IN-PATIENT / WARDS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5720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12121"/>
                </a:solidFill>
                <a:latin typeface="Calibri"/>
              </a:defRPr>
            </a:pPr>
            <a:r>
              <a:t>• Admission workflow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8920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12121"/>
                </a:solidFill>
                <a:latin typeface="Calibri"/>
              </a:defRPr>
            </a:pPr>
            <a:r>
              <a:t>• Bed management &amp; visual map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212079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12121"/>
                </a:solidFill>
                <a:latin typeface="Calibri"/>
              </a:defRPr>
            </a:pPr>
            <a:r>
              <a:t>• Ward 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5321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12121"/>
                </a:solidFill>
                <a:latin typeface="Calibri"/>
              </a:defRPr>
            </a:pPr>
            <a:r>
              <a:t>• Patient transfer tracking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023360"/>
            <a:ext cx="5669280" cy="457200"/>
          </a:xfrm>
          <a:prstGeom prst="roundRect">
            <a:avLst/>
          </a:prstGeom>
          <a:solidFill>
            <a:srgbClr val="E6F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👩‍⚕️  8. NURSING STATION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5720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12121"/>
                </a:solidFill>
                <a:latin typeface="Calibri"/>
              </a:defRPr>
            </a:pPr>
            <a:r>
              <a:t>• Patient worklist display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8920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12121"/>
                </a:solidFill>
                <a:latin typeface="Calibri"/>
              </a:defRPr>
            </a:pPr>
            <a:r>
              <a:t>• Vital signs charting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212079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12121"/>
                </a:solidFill>
                <a:latin typeface="Calibri"/>
              </a:defRPr>
            </a:pPr>
            <a:r>
              <a:t>• Care plan management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55321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12121"/>
                </a:solidFill>
                <a:latin typeface="Calibri"/>
              </a:defRPr>
            </a:pPr>
            <a:r>
              <a:t>• Medication administration (eMAR)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MODULE 9-12: BILLING, ADMIN &amp; SECURITY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280160"/>
            <a:ext cx="5669280" cy="457200"/>
          </a:xfrm>
          <a:prstGeom prst="roundRect">
            <a:avLst/>
          </a:prstGeom>
          <a:solidFill>
            <a:srgbClr val="E67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💰  9. BILLING &amp; FINANCIAL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12121"/>
                </a:solidFill>
                <a:latin typeface="Calibri"/>
              </a:defRPr>
            </a:pPr>
            <a:r>
              <a:t>• Auto-billing from services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488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12121"/>
                </a:solidFill>
                <a:latin typeface="Calibri"/>
              </a:defRPr>
            </a:pPr>
            <a:r>
              <a:t>• Invoice generation &amp; printing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68879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12121"/>
                </a:solidFill>
                <a:latin typeface="Calibri"/>
              </a:defRPr>
            </a:pPr>
            <a:r>
              <a:t>• Multiple payment methods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889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12121"/>
                </a:solidFill>
                <a:latin typeface="Calibri"/>
              </a:defRPr>
            </a:pPr>
            <a:r>
              <a:t>• Insurance claims (basic)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669280" cy="45720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📊  10. ADMIN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12121"/>
                </a:solidFill>
                <a:latin typeface="Calibri"/>
              </a:defRPr>
            </a:pPr>
            <a:r>
              <a:t>• KPI dashboards (real-time)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488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12121"/>
                </a:solidFill>
                <a:latin typeface="Calibri"/>
              </a:defRPr>
            </a:pPr>
            <a:r>
              <a:t>• Revenue monitoring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468879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12121"/>
                </a:solidFill>
                <a:latin typeface="Calibri"/>
              </a:defRPr>
            </a:pPr>
            <a:r>
              <a:t>• Patient statistics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7889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12121"/>
                </a:solidFill>
                <a:latin typeface="Calibri"/>
              </a:defRPr>
            </a:pPr>
            <a:r>
              <a:t>• Department performance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4023360"/>
            <a:ext cx="5669280" cy="457200"/>
          </a:xfrm>
          <a:prstGeom prst="roundRect">
            <a:avLst/>
          </a:prstGeom>
          <a:solidFill>
            <a:srgbClr val="660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🔐  11. USER MANAGEMENT &amp; RBAC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5720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12121"/>
                </a:solidFill>
                <a:latin typeface="Calibri"/>
              </a:defRPr>
            </a:pPr>
            <a:r>
              <a:t>• 7 predefined roles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8920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12121"/>
                </a:solidFill>
                <a:latin typeface="Calibri"/>
              </a:defRPr>
            </a:pPr>
            <a:r>
              <a:t>• Role-based access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212079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12121"/>
                </a:solidFill>
                <a:latin typeface="Calibri"/>
              </a:defRPr>
            </a:pPr>
            <a:r>
              <a:t>• Permission management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5321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12121"/>
                </a:solidFill>
                <a:latin typeface="Calibri"/>
              </a:defRPr>
            </a:pPr>
            <a:r>
              <a:t>• User creation/editing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023360"/>
            <a:ext cx="5669280" cy="457200"/>
          </a:xfrm>
          <a:prstGeom prst="roundRect">
            <a:avLst/>
          </a:prstGeom>
          <a:solidFill>
            <a:srgbClr val="B4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🔒  12. SECURITY &amp; AUDIT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5720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12121"/>
                </a:solidFill>
                <a:latin typeface="Calibri"/>
              </a:defRPr>
            </a:pPr>
            <a:r>
              <a:t>• Complete audit logging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8920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12121"/>
                </a:solidFill>
                <a:latin typeface="Calibri"/>
              </a:defRPr>
            </a:pPr>
            <a:r>
              <a:t>• Access tracking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212079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12121"/>
                </a:solidFill>
                <a:latin typeface="Calibri"/>
              </a:defRPr>
            </a:pPr>
            <a:r>
              <a:t>• Data encryption (AES-256)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55321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12121"/>
                </a:solidFill>
                <a:latin typeface="Calibri"/>
              </a:defRPr>
            </a:pPr>
            <a:r>
              <a:t>• Backup automation (daily)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303520" y="1371600"/>
            <a:ext cx="1463040" cy="14630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200"/>
              </a:spcBef>
              <a:defRPr sz="4800" b="1">
                <a:solidFill>
                  <a:srgbClr val="003366"/>
                </a:solidFill>
              </a:defRPr>
            </a:pPr>
            <a: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4D2F0"/>
                </a:solidFill>
                <a:latin typeface="Calibri"/>
              </a:defRPr>
            </a:pPr>
            <a:r>
              <a:t>Modern Cloud Stack: Supabase + Koyeb + Vercel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CLOUD ARCHITECTURE: SUPABASE + KOYEB + VERCEL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280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6699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737360"/>
            <a:ext cx="2286000" cy="914400"/>
          </a:xfrm>
          <a:prstGeom prst="roundRect">
            <a:avLst/>
          </a:prstGeom>
          <a:solidFill>
            <a:srgbClr val="E6F0FA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3366"/>
                </a:solidFill>
              </a:defRPr>
            </a:pPr>
            <a:r>
              <a:t>Vercel</a:t>
            </a:r>
            <a:br/>
            <a:r>
              <a:t>Next.js App</a:t>
            </a:r>
            <a:br/>
            <a:r>
              <a:t>Global CDN</a:t>
            </a:r>
            <a:br/>
            <a:r>
              <a:t>70+ Pages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280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1737360"/>
            <a:ext cx="2286000" cy="914400"/>
          </a:xfrm>
          <a:prstGeom prst="roundRect">
            <a:avLst/>
          </a:prstGeom>
          <a:solidFill>
            <a:srgbClr val="E6F0FA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3366"/>
                </a:solidFill>
              </a:defRPr>
            </a:pPr>
            <a:r>
              <a:t>Koyeb</a:t>
            </a:r>
            <a:br/>
            <a:r>
              <a:t>Node.js API</a:t>
            </a:r>
            <a:br/>
            <a:r>
              <a:t>Auto-scaling</a:t>
            </a:r>
            <a:br/>
            <a:r>
              <a:t>150+ Endpoints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0" y="1280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6633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35440" y="1737360"/>
            <a:ext cx="2286000" cy="914400"/>
          </a:xfrm>
          <a:prstGeom prst="roundRect">
            <a:avLst/>
          </a:prstGeom>
          <a:solidFill>
            <a:srgbClr val="E6F5E6"/>
          </a:solidFill>
          <a:ln>
            <a:solidFill>
              <a:srgbClr val="006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6633"/>
                </a:solidFill>
              </a:defRPr>
            </a:pPr>
            <a:r>
              <a:t>Supabase</a:t>
            </a:r>
            <a:br/>
            <a:r>
              <a:t>PostgreSQL</a:t>
            </a:r>
            <a:br/>
            <a:r>
              <a:t>Real-time</a:t>
            </a:r>
            <a:br/>
            <a:r>
              <a:t>80+ Tables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51760" y="2103120"/>
            <a:ext cx="365760" cy="365760"/>
          </a:xfrm>
          <a:prstGeom prst="rightArrow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7132320" y="2103120"/>
            <a:ext cx="365760" cy="365760"/>
          </a:xfrm>
          <a:prstGeom prst="rightArrow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292608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Calibri"/>
              </a:defRPr>
            </a:pPr>
            <a:r>
              <a:t>Why This Stack?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474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12121"/>
                </a:solidFill>
                <a:latin typeface="Calibri"/>
              </a:defRPr>
            </a:pPr>
            <a:r>
              <a:t>✅ No DevOps Team Needed  |  ✅ Auto-scaling Included  |  ✅99.9% Uptime SLA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931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12121"/>
                </a:solidFill>
                <a:latin typeface="Calibri"/>
              </a:defRPr>
            </a:pPr>
            <a:r>
              <a:t>✅ Cost-Effective ($200-500/mo)  |  ✅ Instant Deployments (git push → live)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389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12121"/>
                </a:solidFill>
                <a:latin typeface="Calibri"/>
              </a:defRPr>
            </a:pPr>
            <a:r>
              <a:t>✅ Enterprise Security (AES-256)  |  ✅ Automatic Backups &amp; Updates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4846320"/>
            <a:ext cx="1737360" cy="16459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49377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3366"/>
                </a:solidFill>
                <a:latin typeface="Calibri"/>
              </a:defRPr>
            </a:pPr>
            <a:r>
              <a:t>🚀 Fast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44068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12121"/>
                </a:solidFill>
                <a:latin typeface="Calibri"/>
              </a:defRPr>
            </a:pPr>
            <a:r>
              <a:t>Deploy in 12 weeks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40279" y="4846320"/>
            <a:ext cx="1737360" cy="16459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31719" y="49377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3366"/>
                </a:solidFill>
                <a:latin typeface="Calibri"/>
              </a:defRPr>
            </a:pPr>
            <a:r>
              <a:t>💰 Affordable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31719" y="544068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12121"/>
                </a:solidFill>
                <a:latin typeface="Calibri"/>
              </a:defRPr>
            </a:pPr>
            <a:r>
              <a:t>$200-300/month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06240" y="4846320"/>
            <a:ext cx="1737360" cy="16459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80" y="49377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3366"/>
                </a:solidFill>
                <a:latin typeface="Calibri"/>
              </a:defRPr>
            </a:pPr>
            <a:r>
              <a:t>🔧 Owned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544068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12121"/>
                </a:solidFill>
                <a:latin typeface="Calibri"/>
              </a:defRPr>
            </a:pPr>
            <a:r>
              <a:t>Your code &amp; data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199" y="4846320"/>
            <a:ext cx="1737360" cy="16459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3639" y="49377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3366"/>
                </a:solidFill>
                <a:latin typeface="Calibri"/>
              </a:defRPr>
            </a:pPr>
            <a:r>
              <a:t>📈 Scalable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39" y="544068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12121"/>
                </a:solidFill>
                <a:latin typeface="Calibri"/>
              </a:defRPr>
            </a:pPr>
            <a:r>
              <a:t>Grow without code changes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60" y="4846320"/>
            <a:ext cx="1737360" cy="16459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0" y="49377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3366"/>
                </a:solidFill>
                <a:latin typeface="Calibri"/>
              </a:defRPr>
            </a:pPr>
            <a:r>
              <a:t>🔐 Secure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544068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12121"/>
                </a:solidFill>
                <a:latin typeface="Calibri"/>
              </a:defRPr>
            </a:pPr>
            <a:r>
              <a:t>HIPAA-compliant design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104120" y="4846320"/>
            <a:ext cx="1737360" cy="16459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95560" y="49377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3366"/>
                </a:solidFill>
                <a:latin typeface="Calibri"/>
              </a:defRPr>
            </a:pPr>
            <a:r>
              <a:t>🛠️ Simple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95560" y="544068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12121"/>
                </a:solidFill>
                <a:latin typeface="Calibri"/>
              </a:defRPr>
            </a:pPr>
            <a:r>
              <a:t>No IT team needed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280160"/>
            <a:ext cx="1371600" cy="640080"/>
          </a:xfrm>
          <a:prstGeom prst="round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defRPr sz="1200" b="1">
                <a:solidFill>
                  <a:srgbClr val="FFFFFF"/>
                </a:solidFill>
              </a:defRPr>
            </a:pPr>
            <a:r>
              <a:t>Frontend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20240" y="1280160"/>
            <a:ext cx="1645920" cy="640080"/>
          </a:xfrm>
          <a:prstGeom prst="roundRect">
            <a:avLst/>
          </a:prstGeom>
          <a:solidFill>
            <a:srgbClr val="E6F0FA"/>
          </a:solidFill>
          <a:ln w="1905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defRPr sz="1000" b="1">
                <a:solidFill>
                  <a:srgbClr val="006699"/>
                </a:solidFill>
              </a:defRPr>
            </a:pPr>
            <a:r>
              <a:t>Next.js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49039" y="1280160"/>
            <a:ext cx="1645920" cy="640080"/>
          </a:xfrm>
          <a:prstGeom prst="roundRect">
            <a:avLst/>
          </a:prstGeom>
          <a:solidFill>
            <a:srgbClr val="E6F0FA"/>
          </a:solidFill>
          <a:ln w="1905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defRPr sz="1000" b="1">
                <a:solidFill>
                  <a:srgbClr val="006699"/>
                </a:solidFill>
              </a:defRPr>
            </a:pPr>
            <a:r>
              <a:t>React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77840" y="1280160"/>
            <a:ext cx="1645920" cy="640080"/>
          </a:xfrm>
          <a:prstGeom prst="roundRect">
            <a:avLst/>
          </a:prstGeom>
          <a:solidFill>
            <a:srgbClr val="E6F0FA"/>
          </a:solidFill>
          <a:ln w="1905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defRPr sz="1000" b="1">
                <a:solidFill>
                  <a:srgbClr val="006699"/>
                </a:solidFill>
              </a:defRPr>
            </a:pPr>
            <a:r>
              <a:t>TypeScript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1280160"/>
            <a:ext cx="1645920" cy="640080"/>
          </a:xfrm>
          <a:prstGeom prst="roundRect">
            <a:avLst/>
          </a:prstGeom>
          <a:solidFill>
            <a:srgbClr val="E6F0FA"/>
          </a:solidFill>
          <a:ln w="1905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defRPr sz="1000" b="1">
                <a:solidFill>
                  <a:srgbClr val="006699"/>
                </a:solidFill>
              </a:defRPr>
            </a:pPr>
            <a:r>
              <a:t>Tailwind CSS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35440" y="1280160"/>
            <a:ext cx="1645920" cy="640080"/>
          </a:xfrm>
          <a:prstGeom prst="roundRect">
            <a:avLst/>
          </a:prstGeom>
          <a:solidFill>
            <a:srgbClr val="E6F0FA"/>
          </a:solidFill>
          <a:ln w="1905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defRPr sz="1000" b="1">
                <a:solidFill>
                  <a:srgbClr val="006699"/>
                </a:solidFill>
              </a:defRPr>
            </a:pPr>
            <a:r>
              <a:t>Shadcn/UI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377439"/>
            <a:ext cx="1371600" cy="64008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defRPr sz="1200" b="1">
                <a:solidFill>
                  <a:srgbClr val="FFFFFF"/>
                </a:solidFill>
              </a:defRPr>
            </a:pPr>
            <a:r>
              <a:t>Backend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20240" y="2377439"/>
            <a:ext cx="1645920" cy="640080"/>
          </a:xfrm>
          <a:prstGeom prst="roundRect">
            <a:avLst/>
          </a:prstGeom>
          <a:solidFill>
            <a:srgbClr val="E6F0FA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defRPr sz="1000" b="1">
                <a:solidFill>
                  <a:srgbClr val="003366"/>
                </a:solidFill>
              </a:defRPr>
            </a:pPr>
            <a:r>
              <a:t>Node.js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49039" y="2377439"/>
            <a:ext cx="1645920" cy="640080"/>
          </a:xfrm>
          <a:prstGeom prst="roundRect">
            <a:avLst/>
          </a:prstGeom>
          <a:solidFill>
            <a:srgbClr val="E6F0FA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defRPr sz="1000" b="1">
                <a:solidFill>
                  <a:srgbClr val="003366"/>
                </a:solidFill>
              </a:defRPr>
            </a:pPr>
            <a:r>
              <a:t>NestJS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77840" y="2377439"/>
            <a:ext cx="1645920" cy="640080"/>
          </a:xfrm>
          <a:prstGeom prst="roundRect">
            <a:avLst/>
          </a:prstGeom>
          <a:solidFill>
            <a:srgbClr val="E6F0FA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defRPr sz="1000" b="1">
                <a:solidFill>
                  <a:srgbClr val="003366"/>
                </a:solidFill>
              </a:defRPr>
            </a:pPr>
            <a:r>
              <a:t>TypeScript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2377439"/>
            <a:ext cx="1645920" cy="640080"/>
          </a:xfrm>
          <a:prstGeom prst="roundRect">
            <a:avLst/>
          </a:prstGeom>
          <a:solidFill>
            <a:srgbClr val="E6F0FA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defRPr sz="1000" b="1">
                <a:solidFill>
                  <a:srgbClr val="003366"/>
                </a:solidFill>
              </a:defRPr>
            </a:pPr>
            <a:r>
              <a:t>RESTful API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2377439"/>
            <a:ext cx="1645920" cy="640080"/>
          </a:xfrm>
          <a:prstGeom prst="roundRect">
            <a:avLst/>
          </a:prstGeom>
          <a:solidFill>
            <a:srgbClr val="E6F0FA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defRPr sz="1000" b="1">
                <a:solidFill>
                  <a:srgbClr val="003366"/>
                </a:solidFill>
              </a:defRPr>
            </a:pPr>
            <a:r>
              <a:t>GraphQL ready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3474720"/>
            <a:ext cx="1371600" cy="640080"/>
          </a:xfrm>
          <a:prstGeom prst="round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defRPr sz="1200" b="1">
                <a:solidFill>
                  <a:srgbClr val="FFFFFF"/>
                </a:solidFill>
              </a:defRPr>
            </a:pPr>
            <a:r>
              <a:t>Database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920240" y="3474720"/>
            <a:ext cx="1645920" cy="640080"/>
          </a:xfrm>
          <a:prstGeom prst="roundRect">
            <a:avLst/>
          </a:prstGeom>
          <a:solidFill>
            <a:srgbClr val="E6F0FA"/>
          </a:solidFill>
          <a:ln w="19050">
            <a:solidFill>
              <a:srgbClr val="006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defRPr sz="1000" b="1">
                <a:solidFill>
                  <a:srgbClr val="006633"/>
                </a:solidFill>
              </a:defRPr>
            </a:pPr>
            <a:r>
              <a:t>PostgreSQL 16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49039" y="3474720"/>
            <a:ext cx="1645920" cy="640080"/>
          </a:xfrm>
          <a:prstGeom prst="roundRect">
            <a:avLst/>
          </a:prstGeom>
          <a:solidFill>
            <a:srgbClr val="E6F0FA"/>
          </a:solidFill>
          <a:ln w="19050">
            <a:solidFill>
              <a:srgbClr val="006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defRPr sz="1000" b="1">
                <a:solidFill>
                  <a:srgbClr val="006633"/>
                </a:solidFill>
              </a:defRPr>
            </a:pPr>
            <a:r>
              <a:t>Supabase Auth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77840" y="3474720"/>
            <a:ext cx="1645920" cy="640080"/>
          </a:xfrm>
          <a:prstGeom prst="roundRect">
            <a:avLst/>
          </a:prstGeom>
          <a:solidFill>
            <a:srgbClr val="E6F0FA"/>
          </a:solidFill>
          <a:ln w="19050">
            <a:solidFill>
              <a:srgbClr val="006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defRPr sz="1000" b="1">
                <a:solidFill>
                  <a:srgbClr val="006633"/>
                </a:solidFill>
              </a:defRPr>
            </a:pPr>
            <a:r>
              <a:t>Row-Level Security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6640" y="3474720"/>
            <a:ext cx="1645920" cy="640080"/>
          </a:xfrm>
          <a:prstGeom prst="roundRect">
            <a:avLst/>
          </a:prstGeom>
          <a:solidFill>
            <a:srgbClr val="E6F0FA"/>
          </a:solidFill>
          <a:ln w="19050">
            <a:solidFill>
              <a:srgbClr val="006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defRPr sz="1000" b="1">
                <a:solidFill>
                  <a:srgbClr val="006633"/>
                </a:solidFill>
              </a:defRPr>
            </a:pPr>
            <a:r>
              <a:t>Real-time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35440" y="3474720"/>
            <a:ext cx="1645920" cy="640080"/>
          </a:xfrm>
          <a:prstGeom prst="roundRect">
            <a:avLst/>
          </a:prstGeom>
          <a:solidFill>
            <a:srgbClr val="E6F0FA"/>
          </a:solidFill>
          <a:ln w="19050">
            <a:solidFill>
              <a:srgbClr val="006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defRPr sz="1000" b="1">
                <a:solidFill>
                  <a:srgbClr val="006633"/>
                </a:solidFill>
              </a:defRPr>
            </a:pPr>
            <a:r>
              <a:t>Backups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4572000"/>
            <a:ext cx="1371600" cy="640080"/>
          </a:xfrm>
          <a:prstGeom prst="roundRect">
            <a:avLst/>
          </a:prstGeom>
          <a:solidFill>
            <a:srgbClr val="E67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defRPr sz="1200" b="1">
                <a:solidFill>
                  <a:srgbClr val="FFFFFF"/>
                </a:solidFill>
              </a:defRPr>
            </a:pPr>
            <a:r>
              <a:t>DevOps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920240" y="4572000"/>
            <a:ext cx="1645920" cy="640080"/>
          </a:xfrm>
          <a:prstGeom prst="roundRect">
            <a:avLst/>
          </a:prstGeom>
          <a:solidFill>
            <a:srgbClr val="E6F0FA"/>
          </a:solidFill>
          <a:ln w="19050">
            <a:solidFill>
              <a:srgbClr val="E67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defRPr sz="1000" b="1">
                <a:solidFill>
                  <a:srgbClr val="E67300"/>
                </a:solidFill>
              </a:defRPr>
            </a:pPr>
            <a:r>
              <a:t>Docker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749039" y="4572000"/>
            <a:ext cx="1645920" cy="640080"/>
          </a:xfrm>
          <a:prstGeom prst="roundRect">
            <a:avLst/>
          </a:prstGeom>
          <a:solidFill>
            <a:srgbClr val="E6F0FA"/>
          </a:solidFill>
          <a:ln w="19050">
            <a:solidFill>
              <a:srgbClr val="E67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defRPr sz="1000" b="1">
                <a:solidFill>
                  <a:srgbClr val="E67300"/>
                </a:solidFill>
              </a:defRPr>
            </a:pPr>
            <a:r>
              <a:t>GitHub Actions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577840" y="4572000"/>
            <a:ext cx="1645920" cy="640080"/>
          </a:xfrm>
          <a:prstGeom prst="roundRect">
            <a:avLst/>
          </a:prstGeom>
          <a:solidFill>
            <a:srgbClr val="E6F0FA"/>
          </a:solidFill>
          <a:ln w="19050">
            <a:solidFill>
              <a:srgbClr val="E67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defRPr sz="1000" b="1">
                <a:solidFill>
                  <a:srgbClr val="E67300"/>
                </a:solidFill>
              </a:defRPr>
            </a:pPr>
            <a:r>
              <a:t>CI/CD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06640" y="4572000"/>
            <a:ext cx="1645920" cy="640080"/>
          </a:xfrm>
          <a:prstGeom prst="roundRect">
            <a:avLst/>
          </a:prstGeom>
          <a:solidFill>
            <a:srgbClr val="E6F0FA"/>
          </a:solidFill>
          <a:ln w="19050">
            <a:solidFill>
              <a:srgbClr val="E67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defRPr sz="1000" b="1">
                <a:solidFill>
                  <a:srgbClr val="E67300"/>
                </a:solidFill>
              </a:defRPr>
            </a:pPr>
            <a:r>
              <a:t>SSL/TLS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35440" y="4572000"/>
            <a:ext cx="1645920" cy="640080"/>
          </a:xfrm>
          <a:prstGeom prst="roundRect">
            <a:avLst/>
          </a:prstGeom>
          <a:solidFill>
            <a:srgbClr val="E6F0FA"/>
          </a:solidFill>
          <a:ln w="19050">
            <a:solidFill>
              <a:srgbClr val="E67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defRPr sz="1000" b="1">
                <a:solidFill>
                  <a:srgbClr val="E67300"/>
                </a:solidFill>
              </a:defRPr>
            </a:pPr>
            <a:r>
              <a:t>Monitoring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303520" y="1371600"/>
            <a:ext cx="1463040" cy="14630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200"/>
              </a:spcBef>
              <a:defRPr sz="4800" b="1">
                <a:solidFill>
                  <a:srgbClr val="003366"/>
                </a:solidFill>
              </a:defRPr>
            </a:pPr>
            <a: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WORKFLOW DEMONSTRATIONS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4D2F0"/>
                </a:solidFill>
                <a:latin typeface="Calibri"/>
              </a:defRPr>
            </a:pPr>
            <a:r>
              <a:t>How the EMR Works in Real Hospital Operations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PATIENT JOURNEY: FROM ARRIVAL TO DISCHARGE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914400" cy="73152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Patient</a:t>
            </a:r>
            <a:br/>
            <a:r>
              <a:t>Arrives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1417320" y="1508760"/>
            <a:ext cx="228600" cy="457200"/>
          </a:xfrm>
          <a:prstGeom prst="rightArrow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645920" y="1371600"/>
            <a:ext cx="914400" cy="731520"/>
          </a:xfrm>
          <a:prstGeom prst="round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Registration/</a:t>
            </a:r>
            <a:br/>
            <a:r>
              <a:t>Check-in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606040" y="1508760"/>
            <a:ext cx="228600" cy="457200"/>
          </a:xfrm>
          <a:prstGeom prst="rightArrow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834640" y="1371600"/>
            <a:ext cx="914400" cy="73152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Queue</a:t>
            </a:r>
            <a:br/>
            <a:r>
              <a:t>Management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794760" y="1508760"/>
            <a:ext cx="228600" cy="457200"/>
          </a:xfrm>
          <a:prstGeom prst="rightArrow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023360" y="1371600"/>
            <a:ext cx="914400" cy="73152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Doctor</a:t>
            </a:r>
            <a:br/>
            <a:r>
              <a:t>Consultation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983480" y="1508760"/>
            <a:ext cx="228600" cy="457200"/>
          </a:xfrm>
          <a:prstGeom prst="rightArrow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212080" y="1371600"/>
            <a:ext cx="914400" cy="731520"/>
          </a:xfrm>
          <a:prstGeom prst="round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Orders &amp;</a:t>
            </a:r>
            <a:br/>
            <a:r>
              <a:t>Tests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3716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3366"/>
                </a:solidFill>
                <a:latin typeface="Calibri"/>
              </a:defRPr>
            </a:pPr>
            <a:r>
              <a:t>Results &amp; Actions: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1945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12121"/>
                </a:solidFill>
                <a:latin typeface="Calibri"/>
              </a:defRPr>
            </a:pPr>
            <a:r>
              <a:t>🔬 Lab Tests → Results in 24 hours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6517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12121"/>
                </a:solidFill>
                <a:latin typeface="Calibri"/>
              </a:defRPr>
            </a:pPr>
            <a:r>
              <a:t>💊 Prescriptions → Auto to Pharmacy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1089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12121"/>
                </a:solidFill>
                <a:latin typeface="Calibri"/>
              </a:defRPr>
            </a:pPr>
            <a:r>
              <a:t>📊 Reports → Instant to Doctor &amp; Patient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566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12121"/>
                </a:solidFill>
                <a:latin typeface="Calibri"/>
              </a:defRPr>
            </a:pPr>
            <a:r>
              <a:t>💰 Charges → Auto-billing generated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0233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12121"/>
                </a:solidFill>
                <a:latin typeface="Calibri"/>
              </a:defRPr>
            </a:pPr>
            <a:r>
              <a:t>✅ Follow-up → Auto-scheduled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DOCTOR CONSULTATION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  <a:latin typeface="Calibri"/>
              </a:defRPr>
            </a:pPr>
            <a:r>
              <a:t>1. Doctor logs in → 2. Views patient list → 3. Opens patient record → 4. Reviews history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1828800"/>
            <a:ext cx="365760" cy="36576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Calibri"/>
              </a:defRPr>
            </a:pPr>
            <a:r>
              <a:t>📋 Patient Info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82880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12121"/>
                </a:solidFill>
                <a:latin typeface="Calibri"/>
              </a:defRPr>
            </a:pPr>
            <a:r>
              <a:t>Name, age, medical history, allergies, past visits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514600"/>
            <a:ext cx="365760" cy="365760"/>
          </a:xfrm>
          <a:prstGeom prst="ellipse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514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6699"/>
                </a:solidFill>
                <a:latin typeface="Calibri"/>
              </a:defRPr>
            </a:pPr>
            <a:r>
              <a:t>💬 Create Note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51460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12121"/>
                </a:solidFill>
                <a:latin typeface="Calibri"/>
              </a:defRPr>
            </a:pPr>
            <a:r>
              <a:t>Doctor types SOAP note (Subjective, Objective, Assessment, Plan)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200400"/>
            <a:ext cx="365760" cy="36576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200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88"/>
                </a:solidFill>
                <a:latin typeface="Calibri"/>
              </a:defRPr>
            </a:pPr>
            <a:r>
              <a:t>📊 Record Vitals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20040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12121"/>
                </a:solidFill>
                <a:latin typeface="Calibri"/>
              </a:defRPr>
            </a:pPr>
            <a:r>
              <a:t>Temperature, BP, pulse, SpO2, weight auto-calculated BMI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3886200"/>
            <a:ext cx="365760" cy="365760"/>
          </a:xfrm>
          <a:prstGeom prst="ellipse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886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6633"/>
                </a:solidFill>
                <a:latin typeface="Calibri"/>
              </a:defRPr>
            </a:pPr>
            <a:r>
              <a:t>💊 E-Prescribe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88620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12121"/>
                </a:solidFill>
                <a:latin typeface="Calibri"/>
              </a:defRPr>
            </a:pPr>
            <a:r>
              <a:t>Select drugs, dose, frequency — system checks for interactions</a:t>
            </a:r>
          </a:p>
        </p:txBody>
      </p:sp>
      <p:sp>
        <p:nvSpPr>
          <p:cNvPr id="17" name="Oval 16"/>
          <p:cNvSpPr/>
          <p:nvPr/>
        </p:nvSpPr>
        <p:spPr>
          <a:xfrm>
            <a:off x="457200" y="4572000"/>
            <a:ext cx="365760" cy="365760"/>
          </a:xfrm>
          <a:prstGeom prst="ellipse">
            <a:avLst/>
          </a:prstGeom>
          <a:solidFill>
            <a:srgbClr val="E67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572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7300"/>
                </a:solidFill>
                <a:latin typeface="Calibri"/>
              </a:defRPr>
            </a:pPr>
            <a:r>
              <a:t>🔬 Order Labs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457200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12121"/>
                </a:solidFill>
                <a:latin typeface="Calibri"/>
              </a:defRPr>
            </a:pPr>
            <a:r>
              <a:t>Select tests needed — order sent directly to lab with patient ID</a:t>
            </a:r>
          </a:p>
        </p:txBody>
      </p:sp>
      <p:sp>
        <p:nvSpPr>
          <p:cNvPr id="20" name="Oval 19"/>
          <p:cNvSpPr/>
          <p:nvPr/>
        </p:nvSpPr>
        <p:spPr>
          <a:xfrm>
            <a:off x="457200" y="5257800"/>
            <a:ext cx="365760" cy="365760"/>
          </a:xfrm>
          <a:prstGeom prst="ellipse">
            <a:avLst/>
          </a:prstGeom>
          <a:solidFill>
            <a:srgbClr val="660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257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60066"/>
                </a:solidFill>
                <a:latin typeface="Calibri"/>
              </a:defRPr>
            </a:pPr>
            <a:r>
              <a:t>💾 Save &amp; Bill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525780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12121"/>
                </a:solidFill>
                <a:latin typeface="Calibri"/>
              </a:defRPr>
            </a:pPr>
            <a:r>
              <a:t>Note saved, charges auto-generated, patient billed, email sent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PHARMACY DISPENSING WORKFLOW</a:t>
            </a:r>
          </a:p>
        </p:txBody>
      </p:sp>
      <p:sp>
        <p:nvSpPr>
          <p:cNvPr id="4" name="Oval 3"/>
          <p:cNvSpPr/>
          <p:nvPr/>
        </p:nvSpPr>
        <p:spPr>
          <a:xfrm>
            <a:off x="274320" y="1280160"/>
            <a:ext cx="457200" cy="457200"/>
          </a:xfrm>
          <a:prstGeom prst="ellipse">
            <a:avLst/>
          </a:prstGeom>
          <a:solidFill>
            <a:srgbClr val="E67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7300"/>
                </a:solidFill>
                <a:latin typeface="Calibri"/>
              </a:defRPr>
            </a:pPr>
            <a:r>
              <a:t>E-Rx Received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280160"/>
            <a:ext cx="8778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12121"/>
                </a:solidFill>
                <a:latin typeface="Calibri"/>
              </a:defRPr>
            </a:pPr>
            <a:r>
              <a:t>Doctor's prescription appears in pharmacy queue automatically</a:t>
            </a:r>
          </a:p>
        </p:txBody>
      </p:sp>
      <p:sp>
        <p:nvSpPr>
          <p:cNvPr id="7" name="Oval 6"/>
          <p:cNvSpPr/>
          <p:nvPr/>
        </p:nvSpPr>
        <p:spPr>
          <a:xfrm>
            <a:off x="274320" y="2103120"/>
            <a:ext cx="457200" cy="457200"/>
          </a:xfrm>
          <a:prstGeom prst="ellipse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6633"/>
                </a:solidFill>
                <a:latin typeface="Calibri"/>
              </a:defRPr>
            </a:pPr>
            <a:r>
              <a:t>Verification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103120"/>
            <a:ext cx="8778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12121"/>
                </a:solidFill>
                <a:latin typeface="Calibri"/>
              </a:defRPr>
            </a:pPr>
            <a:r>
              <a:t>Pharmacist verifies patient + drug + dosage</a:t>
            </a:r>
          </a:p>
        </p:txBody>
      </p:sp>
      <p:sp>
        <p:nvSpPr>
          <p:cNvPr id="10" name="Oval 9"/>
          <p:cNvSpPr/>
          <p:nvPr/>
        </p:nvSpPr>
        <p:spPr>
          <a:xfrm>
            <a:off x="274320" y="2926080"/>
            <a:ext cx="457200" cy="457200"/>
          </a:xfrm>
          <a:prstGeom prst="ellipse">
            <a:avLst/>
          </a:prstGeom>
          <a:solidFill>
            <a:srgbClr val="B4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26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41E1E"/>
                </a:solidFill>
                <a:latin typeface="Calibri"/>
              </a:defRPr>
            </a:pPr>
            <a:r>
              <a:t>Interaction 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926080"/>
            <a:ext cx="8778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12121"/>
                </a:solidFill>
                <a:latin typeface="Calibri"/>
              </a:defRPr>
            </a:pPr>
            <a:r>
              <a:t>System checks for drug-drug &amp; drug-allergy interactions</a:t>
            </a:r>
          </a:p>
        </p:txBody>
      </p:sp>
      <p:sp>
        <p:nvSpPr>
          <p:cNvPr id="13" name="Oval 12"/>
          <p:cNvSpPr/>
          <p:nvPr/>
        </p:nvSpPr>
        <p:spPr>
          <a:xfrm>
            <a:off x="274320" y="3749039"/>
            <a:ext cx="457200" cy="457200"/>
          </a:xfrm>
          <a:prstGeom prst="ellipse">
            <a:avLst/>
          </a:prstGeom>
          <a:solidFill>
            <a:srgbClr val="660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74903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60066"/>
                </a:solidFill>
                <a:latin typeface="Calibri"/>
              </a:defRPr>
            </a:pPr>
            <a:r>
              <a:t>Dispensing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749039"/>
            <a:ext cx="8778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12121"/>
                </a:solidFill>
                <a:latin typeface="Calibri"/>
              </a:defRPr>
            </a:pPr>
            <a:r>
              <a:t>Medications prepared, barcode printed, patient verifies</a:t>
            </a:r>
          </a:p>
        </p:txBody>
      </p:sp>
      <p:sp>
        <p:nvSpPr>
          <p:cNvPr id="16" name="Oval 15"/>
          <p:cNvSpPr/>
          <p:nvPr/>
        </p:nvSpPr>
        <p:spPr>
          <a:xfrm>
            <a:off x="274320" y="4572000"/>
            <a:ext cx="457200" cy="457200"/>
          </a:xfrm>
          <a:prstGeom prst="ellipse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572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6699"/>
                </a:solidFill>
                <a:latin typeface="Calibri"/>
              </a:defRPr>
            </a:pPr>
            <a:r>
              <a:t>Counselling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4572000"/>
            <a:ext cx="8778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12121"/>
                </a:solidFill>
                <a:latin typeface="Calibri"/>
              </a:defRPr>
            </a:pPr>
            <a:r>
              <a:t>Pharmacist counsels patient (dosage, side effects, timing)</a:t>
            </a:r>
          </a:p>
        </p:txBody>
      </p:sp>
      <p:sp>
        <p:nvSpPr>
          <p:cNvPr id="19" name="Oval 18"/>
          <p:cNvSpPr/>
          <p:nvPr/>
        </p:nvSpPr>
        <p:spPr>
          <a:xfrm>
            <a:off x="274320" y="5394960"/>
            <a:ext cx="457200" cy="457200"/>
          </a:xfrm>
          <a:prstGeom prst="ellipse">
            <a:avLst/>
          </a:prstGeom>
          <a:solidFill>
            <a:srgbClr val="E67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394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7300"/>
                </a:solidFill>
                <a:latin typeface="Calibri"/>
              </a:defRPr>
            </a:pPr>
            <a:r>
              <a:t>Billing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5394960"/>
            <a:ext cx="8778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12121"/>
                </a:solidFill>
                <a:latin typeface="Calibri"/>
              </a:defRPr>
            </a:pPr>
            <a:r>
              <a:t>Charges auto-sent to billing, inventory auto-updated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LABORATORY &amp; BILLING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3366"/>
                </a:solidFill>
                <a:latin typeface="Calibri"/>
              </a:defRPr>
            </a:pPr>
            <a:r>
              <a:t>LABORATORY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Calibri"/>
              </a:defRPr>
            </a:pPr>
            <a:r>
              <a:t>1. Doctor orders tests (EMR)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Calibri"/>
              </a:defRPr>
            </a:pPr>
            <a:r>
              <a:t>2. Lab receives order (real-time alert)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51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Calibri"/>
              </a:defRPr>
            </a:pPr>
            <a:r>
              <a:t>3. Sample collection with barcode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Calibri"/>
              </a:defRPr>
            </a:pPr>
            <a:r>
              <a:t>4. Lab technician enters results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66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Calibri"/>
              </a:defRPr>
            </a:pPr>
            <a:r>
              <a:t>5. Auto-validation (normal range check)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023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Calibri"/>
              </a:defRPr>
            </a:pPr>
            <a:r>
              <a:t>6. Critical alerts if abnormal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480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Calibri"/>
              </a:defRPr>
            </a:pPr>
            <a:r>
              <a:t>7. Report generated &amp; doctor notified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937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Calibri"/>
              </a:defRPr>
            </a:pPr>
            <a:r>
              <a:t>8. Patient views results (portal)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3366"/>
                </a:solidFill>
                <a:latin typeface="Calibri"/>
              </a:defRPr>
            </a:pPr>
            <a:r>
              <a:t>BILLING WORKFLOW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1737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Calibri"/>
              </a:defRPr>
            </a:pPr>
            <a:r>
              <a:t>1. Services rendered → Charges created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194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Calibri"/>
              </a:defRPr>
            </a:pPr>
            <a:r>
              <a:t>2. EMR notes auto-generate charges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651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Calibri"/>
              </a:defRPr>
            </a:pPr>
            <a:r>
              <a:t>3. All charges grouped into invoice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108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Calibri"/>
              </a:defRPr>
            </a:pPr>
            <a:r>
              <a:t>4. Insurance verification (if needed)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566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Calibri"/>
              </a:defRPr>
            </a:pPr>
            <a:r>
              <a:t>5. Invoice sent to patient/insurance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023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Calibri"/>
              </a:defRPr>
            </a:pPr>
            <a:r>
              <a:t>6. Payment received &amp; recorded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4480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Calibri"/>
              </a:defRPr>
            </a:pPr>
            <a:r>
              <a:t>7. Receipt auto-emailed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937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Calibri"/>
              </a:defRPr>
            </a:pPr>
            <a:r>
              <a:t>8. Reports updated in real-time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303520" y="1371600"/>
            <a:ext cx="1463040" cy="14630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200"/>
              </a:spcBef>
              <a:defRPr sz="4800" b="1">
                <a:solidFill>
                  <a:srgbClr val="003366"/>
                </a:solidFill>
              </a:defRPr>
            </a:pPr>
            <a: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KEY BENEFITS &amp; ROI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4D2F0"/>
                </a:solidFill>
                <a:latin typeface="Calibri"/>
              </a:defRPr>
            </a:pPr>
            <a:r>
              <a:t>Measurable Improvements for Your Hospital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BENEFITS &amp; RETURN ON INVESTMENT (ROI)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280160"/>
            <a:ext cx="2103120" cy="1188720"/>
          </a:xfrm>
          <a:prstGeom prst="round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60%</a:t>
            </a:r>
          </a:p>
          <a:p>
            <a:pPr algn="ctr">
              <a:spcBef>
                <a:spcPts val="400"/>
              </a:spcBef>
              <a:defRPr sz="1000">
                <a:solidFill>
                  <a:srgbClr val="DCDCFF"/>
                </a:solidFill>
              </a:defRPr>
            </a:pPr>
            <a:r>
              <a:t>Wait Time Reduction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06039" y="1280160"/>
            <a:ext cx="2103120" cy="1188720"/>
          </a:xfrm>
          <a:prstGeom prst="roundRect">
            <a:avLst/>
          </a:prstGeom>
          <a:solidFill>
            <a:srgbClr val="E67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40%</a:t>
            </a:r>
          </a:p>
          <a:p>
            <a:pPr algn="ctr">
              <a:spcBef>
                <a:spcPts val="400"/>
              </a:spcBef>
              <a:defRPr sz="1000">
                <a:solidFill>
                  <a:srgbClr val="DCDCFF"/>
                </a:solidFill>
              </a:defRPr>
            </a:pPr>
            <a:r>
              <a:t>Billing Efficiency Gain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59" y="1280160"/>
            <a:ext cx="2103120" cy="1188720"/>
          </a:xfrm>
          <a:prstGeom prst="round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70%</a:t>
            </a:r>
          </a:p>
          <a:p>
            <a:pPr algn="ctr">
              <a:spcBef>
                <a:spcPts val="400"/>
              </a:spcBef>
              <a:defRPr sz="1000">
                <a:solidFill>
                  <a:srgbClr val="DCDCFF"/>
                </a:solidFill>
              </a:defRPr>
            </a:pPr>
            <a:r>
              <a:t>Fewer Medical Errors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69479" y="1280160"/>
            <a:ext cx="2103120" cy="1188720"/>
          </a:xfrm>
          <a:prstGeom prst="roundRect">
            <a:avLst/>
          </a:prstGeom>
          <a:solidFill>
            <a:srgbClr val="660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90%</a:t>
            </a:r>
          </a:p>
          <a:p>
            <a:pPr algn="ctr">
              <a:spcBef>
                <a:spcPts val="400"/>
              </a:spcBef>
              <a:defRPr sz="1000">
                <a:solidFill>
                  <a:srgbClr val="DCDCFF"/>
                </a:solidFill>
              </a:defRPr>
            </a:pPr>
            <a:r>
              <a:t>Paper Elimination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0" y="1280160"/>
            <a:ext cx="2103120" cy="1188720"/>
          </a:xfrm>
          <a:prstGeom prst="roundRect">
            <a:avLst/>
          </a:prstGeom>
          <a:solidFill>
            <a:srgbClr val="B4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25%</a:t>
            </a:r>
          </a:p>
          <a:p>
            <a:pPr algn="ctr">
              <a:spcBef>
                <a:spcPts val="400"/>
              </a:spcBef>
              <a:defRPr sz="1000">
                <a:solidFill>
                  <a:srgbClr val="DCDCFF"/>
                </a:solidFill>
              </a:defRPr>
            </a:pPr>
            <a:r>
              <a:t>Revenue Increase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246888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8229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Benefit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Impact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Operational Efficiency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Automated workflows reduce manual work by 60% — staff focus on patient care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Reduced Medical Errors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Drug interaction checking, allergy alerts, clinical decision support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Faster Patient Processing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Check-in to consultation 40% faster with digital queue management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Revenue Optimization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Accurate billing, fewer insurance claim rejections, faster payment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303520" y="1371600"/>
            <a:ext cx="1463040" cy="14630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200"/>
              </a:spcBef>
              <a:defRPr sz="4800" b="1">
                <a:solidFill>
                  <a:srgbClr val="003366"/>
                </a:solidFill>
              </a:defRPr>
            </a:pPr>
            <a: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IMPLEMENTATION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4D2F0"/>
                </a:solidFill>
                <a:latin typeface="Calibri"/>
              </a:defRPr>
            </a:pPr>
            <a:r>
              <a:t>12 Weeks from Order to Go-Live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12-WEEK IMPLEMENTATION TIMELINE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280160"/>
            <a:ext cx="1097280" cy="73152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WEEK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280160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12121"/>
                </a:solidFill>
                <a:latin typeface="Calibri"/>
              </a:defRPr>
            </a:pPr>
            <a:r>
              <a:t>Architecture &amp; Setup</a:t>
            </a:r>
            <a:br/>
            <a:r>
              <a:t>• System design</a:t>
            </a:r>
            <a:br/>
            <a:r>
              <a:t>• Database schema</a:t>
            </a:r>
            <a:br/>
            <a:r>
              <a:t>• API specification</a:t>
            </a:r>
            <a:br/>
            <a:r>
              <a:t>• Project initialization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2103120"/>
            <a:ext cx="1097280" cy="731520"/>
          </a:xfrm>
          <a:prstGeom prst="round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WEEKS 2-3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103120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12121"/>
                </a:solidFill>
                <a:latin typeface="Calibri"/>
              </a:defRPr>
            </a:pPr>
            <a:r>
              <a:t>Backend Development</a:t>
            </a:r>
            <a:br/>
            <a:r>
              <a:t>• 150+ API endpoints</a:t>
            </a:r>
            <a:br/>
            <a:r>
              <a:t>• Database tables</a:t>
            </a:r>
            <a:br/>
            <a:r>
              <a:t>• Authentication</a:t>
            </a:r>
            <a:br/>
            <a:r>
              <a:t>• Business logic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2926080"/>
            <a:ext cx="1097280" cy="73152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WEEKS 4-5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926080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12121"/>
                </a:solidFill>
                <a:latin typeface="Calibri"/>
              </a:defRPr>
            </a:pPr>
            <a:r>
              <a:t>Frontend Development</a:t>
            </a:r>
            <a:br/>
            <a:r>
              <a:t>• 70+ pages</a:t>
            </a:r>
            <a:br/>
            <a:r>
              <a:t>• Responsive design</a:t>
            </a:r>
            <a:br/>
            <a:r>
              <a:t>• Real-time updates</a:t>
            </a:r>
            <a:br/>
            <a:r>
              <a:t>• Reports &amp; exports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3749039"/>
            <a:ext cx="1097280" cy="731520"/>
          </a:xfrm>
          <a:prstGeom prst="round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WEEK 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749039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12121"/>
                </a:solidFill>
                <a:latin typeface="Calibri"/>
              </a:defRPr>
            </a:pPr>
            <a:r>
              <a:t>Testing &amp; Integration</a:t>
            </a:r>
            <a:br/>
            <a:r>
              <a:t>• E2E testing</a:t>
            </a:r>
            <a:br/>
            <a:r>
              <a:t>• Security testing</a:t>
            </a:r>
            <a:br/>
            <a:r>
              <a:t>• Load testing</a:t>
            </a:r>
            <a:br/>
            <a:r>
              <a:t>• Bug fixes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4572000"/>
            <a:ext cx="1097280" cy="731520"/>
          </a:xfrm>
          <a:prstGeom prst="roundRect">
            <a:avLst/>
          </a:prstGeom>
          <a:solidFill>
            <a:srgbClr val="E67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WEEK 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4572000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12121"/>
                </a:solidFill>
                <a:latin typeface="Calibri"/>
              </a:defRPr>
            </a:pPr>
            <a:r>
              <a:t>Deployment</a:t>
            </a:r>
            <a:br/>
            <a:r>
              <a:t>• Supabase setup</a:t>
            </a:r>
            <a:br/>
            <a:r>
              <a:t>• Koyeb deployment</a:t>
            </a:r>
            <a:br/>
            <a:r>
              <a:t>• Vercel launch</a:t>
            </a:r>
            <a:br/>
            <a:r>
              <a:t>• Monitoring active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5394960"/>
            <a:ext cx="1097280" cy="731520"/>
          </a:xfrm>
          <a:prstGeom prst="roundRect">
            <a:avLst/>
          </a:prstGeom>
          <a:solidFill>
            <a:srgbClr val="660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WEEK 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5394960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12121"/>
                </a:solidFill>
                <a:latin typeface="Calibri"/>
              </a:defRPr>
            </a:pPr>
            <a:r>
              <a:t>Documentation</a:t>
            </a:r>
            <a:br/>
            <a:r>
              <a:t>• API documentation</a:t>
            </a:r>
            <a:br/>
            <a:r>
              <a:t>• User guides</a:t>
            </a:r>
            <a:br/>
            <a:r>
              <a:t>• Admin guide</a:t>
            </a:r>
            <a:br/>
            <a:r>
              <a:t>• FAQ &amp; support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6217920"/>
            <a:ext cx="1097280" cy="731520"/>
          </a:xfrm>
          <a:prstGeom prst="roundRect">
            <a:avLst/>
          </a:prstGeom>
          <a:solidFill>
            <a:srgbClr val="B4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WEEKS 9-12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6217920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12121"/>
                </a:solidFill>
                <a:latin typeface="Calibri"/>
              </a:defRPr>
            </a:pPr>
            <a:r>
              <a:t>Refinement &amp; Go-Live</a:t>
            </a:r>
            <a:br/>
            <a:r>
              <a:t>• User feedback</a:t>
            </a:r>
            <a:br/>
            <a:r>
              <a:t>• Optimization</a:t>
            </a:r>
            <a:br/>
            <a:r>
              <a:t>• Staff training</a:t>
            </a:r>
            <a:br/>
            <a:r>
              <a:t>• System launch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303520" y="1371600"/>
            <a:ext cx="1463040" cy="14630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200"/>
              </a:spcBef>
              <a:defRPr sz="4800" b="1">
                <a:solidFill>
                  <a:srgbClr val="003366"/>
                </a:solidFill>
              </a:defRPr>
            </a:pPr>
            <a: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PRICING &amp; LICENSING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4D2F0"/>
                </a:solidFill>
                <a:latin typeface="Calibri"/>
              </a:defRPr>
            </a:pPr>
            <a:r>
              <a:t>Transparent, Predictable Costs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PRICING &amp; COST BREAKDOWN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3366"/>
                </a:solidFill>
                <a:latin typeface="Calibri"/>
              </a:defRPr>
            </a:pPr>
            <a:r>
              <a:t>ONE-TIME DEVELOPMENT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73736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261257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Service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System Development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$5,000 - $10,000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Architecture &amp; Design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Included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Database Setup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Included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Data Migration (if any)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+$1,000 - $3,000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Staff Training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Included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6125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$5,000 - $13,000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0" y="11887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3366"/>
                </a:solidFill>
                <a:latin typeface="Calibri"/>
              </a:defRPr>
            </a:pPr>
            <a:r>
              <a:t>MONTHLY OPERATING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0" y="1737360"/>
          <a:ext cx="51206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</a:tblGrid>
              <a:tr h="261257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Service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Supabase Database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$25-$250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Koyeb Backend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$20-$200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Vercel Frontend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$20-$100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Email &amp; SMS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$10-$50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Domain &amp; SSL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$10-$20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6125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TOTAL (Typical)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$200-$300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57200" y="3931920"/>
            <a:ext cx="11247120" cy="2560320"/>
          </a:xfrm>
          <a:prstGeom prst="rect">
            <a:avLst/>
          </a:prstGeom>
          <a:solidFill>
            <a:srgbClr val="E6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02336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3366"/>
                </a:solidFill>
                <a:latin typeface="Calibri"/>
              </a:defRPr>
            </a:pPr>
            <a:r>
              <a:t>WHY THIS IS THE BEST VALUE FOR SMALL HOSPITALS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6177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12121"/>
                </a:solidFill>
                <a:latin typeface="Calibri"/>
              </a:defRPr>
            </a:pPr>
            <a:r>
              <a:t>✓  Traditional Enterprise EMR: $100K-$500K setup + $5K-$10K/month + dedicated IT team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0749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12121"/>
                </a:solidFill>
                <a:latin typeface="Calibri"/>
              </a:defRPr>
            </a:pPr>
            <a:r>
              <a:t>✓  Our Solution: $5-13K setup + $200-300/month + NO IT team needed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5321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12121"/>
                </a:solidFill>
                <a:latin typeface="Calibri"/>
              </a:defRPr>
            </a:pPr>
            <a:r>
              <a:t>✓  Annual Savings: $46K-$119K+ (vs traditional) — ROI in 1-2 months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9893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12121"/>
                </a:solidFill>
                <a:latin typeface="Calibri"/>
              </a:defRPr>
            </a:pPr>
            <a:r>
              <a:t>✓  Scalability: Grows from 50 to 500+ beds at same monthly cost (no renegotiation needed)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303520" y="1371600"/>
            <a:ext cx="1463040" cy="14630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200"/>
              </a:spcBef>
              <a:defRPr sz="4800" b="1">
                <a:solidFill>
                  <a:srgbClr val="003366"/>
                </a:solidFill>
              </a:defRPr>
            </a:pPr>
            <a: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SECURITY &amp;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4D2F0"/>
                </a:solidFill>
                <a:latin typeface="Calibri"/>
              </a:defRPr>
            </a:pPr>
            <a:r>
              <a:t>Enterprise-Grade Protection for Healthcare Data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SECURITY &amp; COMPLIANCE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Calibri"/>
              </a:defRPr>
            </a:pPr>
            <a:r>
              <a:t>🔐 Data Encryption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Calibri"/>
              </a:defRPr>
            </a:pPr>
            <a:r>
              <a:t>AES-256 at rest, TLS 1.3 in transit — military-grade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6699"/>
                </a:solidFill>
                <a:latin typeface="Calibri"/>
              </a:defRPr>
            </a:pPr>
            <a:r>
              <a:t>🔑 Authentication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Calibri"/>
              </a:defRPr>
            </a:pPr>
            <a:r>
              <a:t>JWT tokens, multi-factor authentication (MFA), session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0233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88"/>
                </a:solidFill>
                <a:latin typeface="Calibri"/>
              </a:defRPr>
            </a:pPr>
            <a:r>
              <a:t>👥 Access Control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4340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Calibri"/>
              </a:defRPr>
            </a:pPr>
            <a:r>
              <a:t>Role-based (7 roles: Doctor, Nurse, Pharmacist, Lab, Admin, Accountant, Receptionist)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3949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6633"/>
                </a:solidFill>
                <a:latin typeface="Calibri"/>
              </a:defRPr>
            </a:pPr>
            <a:r>
              <a:t>📋 Audit Logging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71500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Calibri"/>
              </a:defRPr>
            </a:pPr>
            <a:r>
              <a:t>Complete audit trail — every login, access, edit tracked with timestamps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12801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7300"/>
                </a:solidFill>
                <a:latin typeface="Calibri"/>
              </a:defRPr>
            </a:pPr>
            <a:r>
              <a:t>💾 Backups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160020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Calibri"/>
              </a:defRPr>
            </a:pPr>
            <a:r>
              <a:t>Automated daily backups, 30-day retention, point-in-time recovery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6517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60066"/>
                </a:solidFill>
                <a:latin typeface="Calibri"/>
              </a:defRPr>
            </a:pPr>
            <a:r>
              <a:t>🛡️ HIPAA Ready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97180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Calibri"/>
              </a:defRPr>
            </a:pPr>
            <a:r>
              <a:t>HIPAA-compliant architecture, patient privacy controls, breach notification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40233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41E1E"/>
                </a:solidFill>
                <a:latin typeface="Calibri"/>
              </a:defRPr>
            </a:pPr>
            <a:r>
              <a:t>✅ GDPR Support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434340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Calibri"/>
              </a:defRPr>
            </a:pPr>
            <a:r>
              <a:t>Data export, right to be forgotten, consent management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53949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46464"/>
                </a:solidFill>
                <a:latin typeface="Calibri"/>
              </a:defRPr>
            </a:pPr>
            <a:r>
              <a:t>🔍 Monitoring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571500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Calibri"/>
              </a:defRPr>
            </a:pPr>
            <a:r>
              <a:t>24/7 system monitoring, alerts for suspicious activity, error tracking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303520" y="1371600"/>
            <a:ext cx="1463040" cy="14630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200"/>
              </a:spcBef>
              <a:defRPr sz="4800" b="1">
                <a:solidFill>
                  <a:srgbClr val="003366"/>
                </a:solidFill>
              </a:defRPr>
            </a:pPr>
            <a: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DEPLOYMENT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4D2F0"/>
                </a:solidFill>
                <a:latin typeface="Calibri"/>
              </a:defRPr>
            </a:pPr>
            <a:r>
              <a:t>How We Get You Live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GO-LIVE DEPLOYMENT PROCESS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280160"/>
            <a:ext cx="1280160" cy="73152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1. Pre-Deployment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28016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12121"/>
                </a:solidFill>
                <a:latin typeface="Calibri"/>
              </a:defRPr>
            </a:pPr>
            <a:r>
              <a:t>Production database created, backups configured, monitoring active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2103120"/>
            <a:ext cx="1280160" cy="731520"/>
          </a:xfrm>
          <a:prstGeom prst="round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2. Data Migration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10312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12121"/>
                </a:solidFill>
                <a:latin typeface="Calibri"/>
              </a:defRPr>
            </a:pPr>
            <a:r>
              <a:t>Legacy data exported, transformed to new schema, integrity verified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2926080"/>
            <a:ext cx="1280160" cy="73152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3. Staging 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92608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12121"/>
                </a:solidFill>
                <a:latin typeface="Calibri"/>
              </a:defRPr>
            </a:pPr>
            <a:r>
              <a:t>All systems tested in staging environment, UAT scenarios validated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3749039"/>
            <a:ext cx="1280160" cy="731520"/>
          </a:xfrm>
          <a:prstGeom prst="round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4. Staff Training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749039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12121"/>
                </a:solidFill>
                <a:latin typeface="Calibri"/>
              </a:defRPr>
            </a:pPr>
            <a:r>
              <a:t>Doctors, nurses, admins trained on new system, certification provided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4572000"/>
            <a:ext cx="1280160" cy="731520"/>
          </a:xfrm>
          <a:prstGeom prst="roundRect">
            <a:avLst/>
          </a:prstGeom>
          <a:solidFill>
            <a:srgbClr val="E67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5. System Going Live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57200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12121"/>
                </a:solidFill>
                <a:latin typeface="Calibri"/>
              </a:defRPr>
            </a:pPr>
            <a:r>
              <a:t>Switch from old to new system, all departments go digital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5394960"/>
            <a:ext cx="1280160" cy="731520"/>
          </a:xfrm>
          <a:prstGeom prst="roundRect">
            <a:avLst/>
          </a:prstGeom>
          <a:solidFill>
            <a:srgbClr val="660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6. Launch Support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539496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12121"/>
                </a:solidFill>
                <a:latin typeface="Calibri"/>
              </a:defRPr>
            </a:pPr>
            <a:r>
              <a:t>24/7 support for 1 week, monitoring, issue resolution, optimization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6217920"/>
            <a:ext cx="1280160" cy="731520"/>
          </a:xfrm>
          <a:prstGeom prst="roundRect">
            <a:avLst/>
          </a:prstGeom>
          <a:solidFill>
            <a:srgbClr val="B4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7. Handoff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621792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12121"/>
                </a:solidFill>
                <a:latin typeface="Calibri"/>
              </a:defRPr>
            </a:pPr>
            <a:r>
              <a:t>System stable, documentation complete, support team onboarded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303520" y="1371600"/>
            <a:ext cx="1463040" cy="14630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200"/>
              </a:spcBef>
              <a:defRPr sz="4800" b="1">
                <a:solidFill>
                  <a:srgbClr val="003366"/>
                </a:solidFill>
              </a:defRPr>
            </a:pPr>
            <a:r>
              <a:t>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SUPPORT &amp;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4D2F0"/>
                </a:solidFill>
                <a:latin typeface="Calibri"/>
              </a:defRPr>
            </a:pPr>
            <a:r>
              <a:t>Comprehensive Help for Your Team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SUPPORT &amp; TRAINING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3366"/>
                </a:solidFill>
                <a:latin typeface="Calibri"/>
              </a:defRPr>
            </a:pPr>
            <a:r>
              <a:t>📚 TRAINING MATERIALS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12121"/>
                </a:solidFill>
                <a:latin typeface="Calibri"/>
              </a:defRPr>
            </a:pPr>
            <a:r>
              <a:t>✓ 20+ video tutorials (step-by-step)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12121"/>
                </a:solidFill>
                <a:latin typeface="Calibri"/>
              </a:defRPr>
            </a:pPr>
            <a:r>
              <a:t>✓ User guide (50+ pages, PDF)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12121"/>
                </a:solidFill>
                <a:latin typeface="Calibri"/>
              </a:defRPr>
            </a:pPr>
            <a:r>
              <a:t>✓ Admin guide (configuration)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718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12121"/>
                </a:solidFill>
                <a:latin typeface="Calibri"/>
              </a:defRPr>
            </a:pPr>
            <a:r>
              <a:t>✓ Troubleshooting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12121"/>
                </a:solidFill>
                <a:latin typeface="Calibri"/>
              </a:defRPr>
            </a:pPr>
            <a:r>
              <a:t>✓ Quick reference cards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947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12121"/>
                </a:solidFill>
                <a:latin typeface="Calibri"/>
              </a:defRPr>
            </a:pPr>
            <a:r>
              <a:t>✓ Role-specific training slides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1887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3366"/>
                </a:solidFill>
                <a:latin typeface="Calibri"/>
              </a:defRPr>
            </a:pPr>
            <a:r>
              <a:t>🆘 SUPPORT SERVICES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737360"/>
            <a:ext cx="50840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12121"/>
                </a:solidFill>
                <a:latin typeface="Calibri"/>
              </a:defRPr>
            </a:pPr>
            <a:r>
              <a:t>✓ 24/7 support (go-live week)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148840"/>
            <a:ext cx="50840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12121"/>
                </a:solidFill>
                <a:latin typeface="Calibri"/>
              </a:defRPr>
            </a:pPr>
            <a:r>
              <a:t>✓ Email support (ongoing)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560320"/>
            <a:ext cx="50840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12121"/>
                </a:solidFill>
                <a:latin typeface="Calibri"/>
              </a:defRPr>
            </a:pPr>
            <a:r>
              <a:t>✓ Quick bug fixes (24 hours)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971800"/>
            <a:ext cx="50840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12121"/>
                </a:solidFill>
                <a:latin typeface="Calibri"/>
              </a:defRPr>
            </a:pPr>
            <a:r>
              <a:t>✓ System updates (automatic)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383280"/>
            <a:ext cx="50840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12121"/>
                </a:solidFill>
                <a:latin typeface="Calibri"/>
              </a:defRPr>
            </a:pPr>
            <a:r>
              <a:t>✓ Feature requests (roadmap)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794760"/>
            <a:ext cx="50840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12121"/>
                </a:solidFill>
                <a:latin typeface="Calibri"/>
              </a:defRPr>
            </a:pPr>
            <a:r>
              <a:t>✓ Periodic check-ins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114800"/>
            <a:ext cx="11247120" cy="2286000"/>
          </a:xfrm>
          <a:prstGeom prst="rect">
            <a:avLst/>
          </a:prstGeom>
          <a:solidFill>
            <a:srgbClr val="E6F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2062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633"/>
                </a:solidFill>
                <a:latin typeface="Calibri"/>
              </a:defRPr>
            </a:pPr>
            <a:r>
              <a:t>SERVICE LEVEL AGREEMENT (SLA)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66344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Calibri"/>
              </a:defRPr>
            </a:pPr>
            <a:r>
              <a:t>✓ 99.9% Uptime: System available 99.9% of the time (less than 43 minutes downtime/month)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66344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Calibri"/>
              </a:defRPr>
            </a:pPr>
            <a:r>
              <a:t>✓ &lt; 1 Hour Response: Critical issues responded to within 1 hour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02920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Calibri"/>
              </a:defRPr>
            </a:pPr>
            <a:r>
              <a:t>✓ &lt; 24 Hour Resolution: Bug fixes deployed within 24 hours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394959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Calibri"/>
              </a:defRPr>
            </a:pPr>
            <a:r>
              <a:t>✓ Daily Backups: Automated daily backups with 30-day retention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76072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Calibri"/>
              </a:defRPr>
            </a:pPr>
            <a:r>
              <a:t>✓ Auto-Updates: Security patches and updates applied automatically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HOW WE COMPARE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4712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530352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Our EMR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Enterprise EMR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Paper + Spreadsheets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Setup Cost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$5-13K</a:t>
                      </a:r>
                    </a:p>
                  </a:txBody>
                  <a:tcPr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$100-500K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Free (no digital)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Monthly Cost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$200-300</a:t>
                      </a:r>
                    </a:p>
                  </a:txBody>
                  <a:tcPr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$5-10K+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Staff + paper costs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Implementation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12 weeks</a:t>
                      </a:r>
                    </a:p>
                  </a:txBody>
                  <a:tcPr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2 years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Not applicable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All-in-One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YES ✓</a:t>
                      </a:r>
                    </a:p>
                  </a:txBody>
                  <a:tcPr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NO (different vendors)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Scalable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YES ✓</a:t>
                      </a:r>
                    </a:p>
                  </a:txBody>
                  <a:tcPr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YES (expensive)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Easy to Use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YES ✓</a:t>
                      </a:r>
                    </a:p>
                  </a:txBody>
                  <a:tcPr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Complex (steep learning)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Secure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YES ✓</a:t>
                      </a:r>
                    </a:p>
                  </a:txBody>
                  <a:tcPr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NO (HIPAA risk)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Support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Email + 24/7 launch</a:t>
                      </a:r>
                    </a:p>
                  </a:txBody>
                  <a:tcPr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SLA-based (expensive)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No support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Total Year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$7-16K</a:t>
                      </a:r>
                    </a:p>
                  </a:txBody>
                  <a:tcPr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$160-600K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$100K-500K (labor)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Ready to Transform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64B4FF"/>
                </a:solidFill>
                <a:latin typeface="Calibri"/>
              </a:defRPr>
            </a:pPr>
            <a:r>
              <a:t>Your Hospital?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383280"/>
            <a:ext cx="8503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4D2F0"/>
                </a:solidFill>
                <a:latin typeface="Calibri"/>
              </a:defRPr>
            </a:pPr>
            <a:r>
              <a:t>Let's Schedule a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20624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✓ We discuss your hospital's needs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66344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✓ Confirm requirements &amp; timelines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12064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✓ Sign agreement &amp; start development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57784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✓ 12 weeks later: Go-live to production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5943600"/>
            <a:ext cx="7589520" cy="6400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0" y="5989320"/>
            <a:ext cx="7223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Contact Us: development@hospitalemr.com | Ready in 12 Weeks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